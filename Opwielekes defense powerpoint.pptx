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4"/>
  </p:sldMasterIdLst>
  <p:notesMasterIdLst>
    <p:notesMasterId r:id="rId20"/>
  </p:notesMasterIdLst>
  <p:sldIdLst>
    <p:sldId id="256" r:id="rId5"/>
    <p:sldId id="257" r:id="rId6"/>
    <p:sldId id="258" r:id="rId7"/>
    <p:sldId id="278" r:id="rId8"/>
    <p:sldId id="274" r:id="rId9"/>
    <p:sldId id="261" r:id="rId10"/>
    <p:sldId id="262" r:id="rId11"/>
    <p:sldId id="275" r:id="rId12"/>
    <p:sldId id="270" r:id="rId13"/>
    <p:sldId id="271" r:id="rId14"/>
    <p:sldId id="264" r:id="rId15"/>
    <p:sldId id="276" r:id="rId16"/>
    <p:sldId id="273" r:id="rId17"/>
    <p:sldId id="277" r:id="rId18"/>
    <p:sldId id="269" r:id="rId19"/>
  </p:sldIdLst>
  <p:sldSz cx="18288000" cy="10287000"/>
  <p:notesSz cx="6858000" cy="9144000"/>
  <p:embeddedFontLst>
    <p:embeddedFont>
      <p:font typeface="Open Sauce" panose="020B0604020202020204" charset="0"/>
      <p:regular r:id="rId21"/>
    </p:embeddedFont>
    <p:embeddedFont>
      <p:font typeface="Open Sauce Bold" panose="020B0604020202020204" charset="0"/>
      <p:regular r:id="rId22"/>
    </p:embeddedFont>
    <p:embeddedFont>
      <p:font typeface="Open Sauce Heavy" panose="020B0604020202020204" charset="0"/>
      <p:regular r:id="rId23"/>
    </p:embeddedFont>
    <p:embeddedFont>
      <p:font typeface="Tw Cen MT" panose="020B0602020104020603" pitchFamily="34" charset="0"/>
      <p:regular r:id="rId24"/>
      <p:bold r:id="rId25"/>
      <p:italic r:id="rId26"/>
      <p:boldItalic r:id="rId27"/>
    </p:embeddedFont>
    <p:embeddedFont>
      <p:font typeface="Tw Cen MT Condensed" panose="020B0606020104020203" pitchFamily="34" charset="0"/>
      <p:regular r:id="rId28"/>
      <p:bold r:id="rId29"/>
    </p:embeddedFont>
    <p:embeddedFont>
      <p:font typeface="Wingdings 3" panose="05040102010807070707" pitchFamily="18" charset="2"/>
      <p:regular r:id="rId3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5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67707D-5C6C-4C4F-BDF7-641D060B3EB6}" type="datetimeFigureOut">
              <a:rPr lang="nl-BE" smtClean="0"/>
              <a:t>19/12/2025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02787E-CF78-4305-B468-55D8C4098C4C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54811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"/>
            <a:ext cx="18288000" cy="6858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2" y="1"/>
            <a:ext cx="18288000" cy="6858002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440206"/>
            <a:ext cx="11658600" cy="2194560"/>
          </a:xfrm>
        </p:spPr>
        <p:txBody>
          <a:bodyPr anchor="ctr">
            <a:normAutofit/>
          </a:bodyPr>
          <a:lstStyle>
            <a:lvl1pPr algn="r">
              <a:defRPr sz="7500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15900" y="7440206"/>
            <a:ext cx="4800600" cy="219456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7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685800" indent="0" algn="ctr">
              <a:buNone/>
              <a:defRPr sz="27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700"/>
            </a:lvl4pPr>
            <a:lvl5pPr marL="2743200" indent="0" algn="ctr">
              <a:buNone/>
              <a:defRPr sz="2700"/>
            </a:lvl5pPr>
            <a:lvl6pPr marL="3429000" indent="0" algn="ctr">
              <a:buNone/>
              <a:defRPr sz="2700"/>
            </a:lvl6pPr>
            <a:lvl7pPr marL="4114800" indent="0" algn="ctr">
              <a:buNone/>
              <a:defRPr sz="2700"/>
            </a:lvl7pPr>
            <a:lvl8pPr marL="4800600" indent="0" algn="ctr">
              <a:buNone/>
              <a:defRPr sz="2700"/>
            </a:lvl8pPr>
            <a:lvl9pPr marL="5486400" indent="0" algn="ctr">
              <a:buNone/>
              <a:defRPr sz="27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2580265" y="7896159"/>
            <a:ext cx="0" cy="1371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746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52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8288000" cy="685800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2" y="1"/>
            <a:ext cx="18288000" cy="6858002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440206"/>
            <a:ext cx="11658600" cy="2194560"/>
          </a:xfrm>
        </p:spPr>
        <p:txBody>
          <a:bodyPr anchor="ctr">
            <a:normAutofit/>
          </a:bodyPr>
          <a:lstStyle>
            <a:lvl1pPr algn="r">
              <a:defRPr sz="7500" b="0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15900" y="7440206"/>
            <a:ext cx="4800600" cy="219456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2580265" y="7896159"/>
            <a:ext cx="0" cy="1371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7182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6192" y="877824"/>
            <a:ext cx="14580108" cy="22494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6191" y="3429000"/>
            <a:ext cx="7132320" cy="6035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83980" y="3429000"/>
            <a:ext cx="7132320" cy="6035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2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6192" y="3269454"/>
            <a:ext cx="7132320" cy="123444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3450" b="0" cap="none" baseline="0">
                <a:solidFill>
                  <a:schemeClr val="accent1"/>
                </a:solidFill>
                <a:latin typeface="+mn-lt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6192" y="4451682"/>
            <a:ext cx="7132320" cy="5012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986332" y="3269454"/>
            <a:ext cx="7132320" cy="123444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345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marL="0" lvl="0" indent="0" algn="l" defTabSz="1371600" rtl="0" eaLnBrk="1" latinLnBrk="0" hangingPunct="1">
              <a:lnSpc>
                <a:spcPct val="90000"/>
              </a:lnSpc>
              <a:spcBef>
                <a:spcPts val="27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986332" y="4451682"/>
            <a:ext cx="7132320" cy="5012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19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658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101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536192" y="707264"/>
            <a:ext cx="6583680" cy="260604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0" y="1234440"/>
            <a:ext cx="8517636" cy="7776972"/>
          </a:xfr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6192" y="3386259"/>
            <a:ext cx="6583680" cy="564344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900"/>
              </a:spcBef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648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440207"/>
            <a:ext cx="11658600" cy="2194560"/>
          </a:xfrm>
        </p:spPr>
        <p:txBody>
          <a:bodyPr anchor="ctr">
            <a:normAutofit/>
          </a:bodyPr>
          <a:lstStyle>
            <a:lvl1pPr algn="r">
              <a:defRPr sz="7500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2"/>
            <a:ext cx="18283428" cy="6858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5900" y="7440207"/>
            <a:ext cx="4800600" cy="219456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2580265" y="7896159"/>
            <a:ext cx="0" cy="1371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3664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114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2" y="1143000"/>
            <a:ext cx="3943350" cy="81153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5901" y="1143000"/>
            <a:ext cx="11372850" cy="8115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5087600" y="88895"/>
            <a:ext cx="0" cy="1371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071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6192" y="877824"/>
            <a:ext cx="14580108" cy="2249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6193" y="3429000"/>
            <a:ext cx="14580110" cy="603504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36194" y="9706056"/>
            <a:ext cx="3231215" cy="411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64399" y="9706056"/>
            <a:ext cx="8852189" cy="411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56000" y="9706056"/>
            <a:ext cx="1460501" cy="411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1143000" y="1239486"/>
            <a:ext cx="0" cy="1371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79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71600" rtl="0" eaLnBrk="1" latinLnBrk="0" hangingPunct="1">
        <a:lnSpc>
          <a:spcPct val="80000"/>
        </a:lnSpc>
        <a:spcBef>
          <a:spcPct val="0"/>
        </a:spcBef>
        <a:buNone/>
        <a:defRPr sz="7500" kern="1200" cap="all" spc="15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1371600" rtl="0" eaLnBrk="1" latinLnBrk="0" hangingPunct="1">
        <a:lnSpc>
          <a:spcPct val="90000"/>
        </a:lnSpc>
        <a:spcBef>
          <a:spcPts val="1800"/>
        </a:spcBef>
        <a:spcAft>
          <a:spcPts val="3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3300" kern="1200">
          <a:solidFill>
            <a:schemeClr val="tx1"/>
          </a:solidFill>
          <a:latin typeface="+mn-lt"/>
          <a:ea typeface="+mn-ea"/>
          <a:cs typeface="+mn-cs"/>
        </a:defRPr>
      </a:lvl1pPr>
      <a:lvl2pPr marL="397764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891540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1165860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1591056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1824228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2043684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1028700" y="7200900"/>
            <a:ext cx="639585" cy="0"/>
          </a:xfrm>
          <a:prstGeom prst="line">
            <a:avLst/>
          </a:prstGeom>
          <a:ln w="114300" cap="flat">
            <a:solidFill>
              <a:srgbClr val="FE82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nl-BE"/>
          </a:p>
        </p:txBody>
      </p:sp>
      <p:sp>
        <p:nvSpPr>
          <p:cNvPr id="4" name="TextBox 4"/>
          <p:cNvSpPr txBox="1"/>
          <p:nvPr/>
        </p:nvSpPr>
        <p:spPr>
          <a:xfrm>
            <a:off x="1028700" y="3489330"/>
            <a:ext cx="10607576" cy="1969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800"/>
              </a:lnSpc>
            </a:pPr>
            <a:r>
              <a:rPr lang="en-US" sz="12000" b="1" spc="-480">
                <a:solidFill>
                  <a:srgbClr val="12100E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Op </a:t>
            </a:r>
            <a:r>
              <a:rPr lang="en-US" sz="12000" b="1" spc="-480" err="1">
                <a:solidFill>
                  <a:srgbClr val="12100E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Wielekes</a:t>
            </a:r>
            <a:endParaRPr lang="en-US" sz="12000" b="1" spc="-480">
              <a:solidFill>
                <a:srgbClr val="12100E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5301643"/>
            <a:ext cx="10034500" cy="555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5"/>
              </a:lnSpc>
            </a:pPr>
            <a:r>
              <a:rPr lang="en-US" sz="3260" spc="-65">
                <a:solidFill>
                  <a:srgbClr val="12100E"/>
                </a:solidFill>
                <a:latin typeface="Open Sauce" panose="020B0604020202020204" charset="0"/>
                <a:ea typeface="Noto Serif"/>
                <a:cs typeface="Noto Serif"/>
                <a:sym typeface="Noto Serif"/>
              </a:rPr>
              <a:t>Depot managing app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0CDDB3FE-79F1-2828-C68F-B90EDB90547E}"/>
              </a:ext>
            </a:extLst>
          </p:cNvPr>
          <p:cNvSpPr txBox="1"/>
          <p:nvPr/>
        </p:nvSpPr>
        <p:spPr>
          <a:xfrm>
            <a:off x="1028700" y="7371210"/>
            <a:ext cx="4610100" cy="3004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 b="1">
                <a:solidFill>
                  <a:srgbClr val="12100E"/>
                </a:solidFill>
                <a:latin typeface="Open Sauce" panose="020B0604020202020204" charset="0"/>
                <a:ea typeface="Open Sauce Bold"/>
                <a:cs typeface="Open Sauce Bold"/>
                <a:sym typeface="Open Sauce Bold"/>
              </a:rPr>
              <a:t>Lennert </a:t>
            </a:r>
            <a:r>
              <a:rPr lang="en-US" sz="2100" b="1" err="1">
                <a:solidFill>
                  <a:srgbClr val="12100E"/>
                </a:solidFill>
                <a:latin typeface="Open Sauce" panose="020B0604020202020204" charset="0"/>
                <a:ea typeface="Open Sauce Bold"/>
                <a:cs typeface="Open Sauce Bold"/>
                <a:sym typeface="Open Sauce Bold"/>
              </a:rPr>
              <a:t>Vandiedonck</a:t>
            </a:r>
            <a:endParaRPr lang="en-US" sz="2100" b="1">
              <a:solidFill>
                <a:srgbClr val="12100E"/>
              </a:solidFill>
              <a:latin typeface="Open Sauce" panose="020B0604020202020204" charset="0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360"/>
              </a:lnSpc>
            </a:pPr>
            <a:r>
              <a:rPr lang="en-US" sz="2100" b="1">
                <a:solidFill>
                  <a:srgbClr val="12100E"/>
                </a:solidFill>
                <a:latin typeface="Open Sauce" panose="020B0604020202020204" charset="0"/>
                <a:ea typeface="Open Sauce Bold"/>
                <a:cs typeface="Open Sauce Bold"/>
                <a:sym typeface="Open Sauce Bold"/>
              </a:rPr>
              <a:t>Remi </a:t>
            </a:r>
            <a:r>
              <a:rPr lang="en-US" sz="2100" b="1" err="1">
                <a:solidFill>
                  <a:srgbClr val="12100E"/>
                </a:solidFill>
                <a:latin typeface="Open Sauce" panose="020B0604020202020204" charset="0"/>
                <a:ea typeface="Open Sauce Bold"/>
                <a:cs typeface="Open Sauce Bold"/>
                <a:sym typeface="Open Sauce Bold"/>
              </a:rPr>
              <a:t>Vanhuylebrouck</a:t>
            </a:r>
            <a:endParaRPr lang="en-US" sz="2100" b="1">
              <a:solidFill>
                <a:srgbClr val="12100E"/>
              </a:solidFill>
              <a:latin typeface="Open Sauce" panose="020B0604020202020204" charset="0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360"/>
              </a:lnSpc>
            </a:pPr>
            <a:r>
              <a:rPr lang="en-US" sz="2100" b="1">
                <a:solidFill>
                  <a:srgbClr val="12100E"/>
                </a:solidFill>
                <a:latin typeface="Open Sauce" panose="020B0604020202020204" charset="0"/>
                <a:ea typeface="Open Sauce Bold"/>
                <a:cs typeface="Open Sauce Bold"/>
                <a:sym typeface="Open Sauce Bold"/>
              </a:rPr>
              <a:t>Constantijn Cardon</a:t>
            </a:r>
          </a:p>
          <a:p>
            <a:pPr algn="l">
              <a:lnSpc>
                <a:spcPts val="3360"/>
              </a:lnSpc>
            </a:pPr>
            <a:r>
              <a:rPr lang="en-US" sz="2100" b="1">
                <a:solidFill>
                  <a:srgbClr val="12100E"/>
                </a:solidFill>
                <a:latin typeface="Open Sauce" panose="020B0604020202020204" charset="0"/>
                <a:ea typeface="Open Sauce Bold"/>
                <a:cs typeface="Open Sauce Bold"/>
                <a:sym typeface="Open Sauce Bold"/>
              </a:rPr>
              <a:t>Jarne Boone</a:t>
            </a:r>
          </a:p>
          <a:p>
            <a:pPr algn="l">
              <a:lnSpc>
                <a:spcPts val="3360"/>
              </a:lnSpc>
            </a:pPr>
            <a:r>
              <a:rPr lang="en-US" sz="2100" b="1">
                <a:solidFill>
                  <a:srgbClr val="12100E"/>
                </a:solidFill>
                <a:latin typeface="Open Sauce" panose="020B0604020202020204" charset="0"/>
                <a:ea typeface="Open Sauce Bold"/>
                <a:cs typeface="Open Sauce Bold"/>
                <a:sym typeface="Open Sauce Bold"/>
              </a:rPr>
              <a:t>Daria Chirila</a:t>
            </a:r>
          </a:p>
          <a:p>
            <a:pPr algn="l">
              <a:lnSpc>
                <a:spcPts val="3360"/>
              </a:lnSpc>
            </a:pPr>
            <a:endParaRPr lang="en-US" sz="2100" b="1">
              <a:solidFill>
                <a:srgbClr val="12100E"/>
              </a:solidFill>
              <a:latin typeface="Open Sauce" panose="020B0604020202020204" charset="0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360"/>
              </a:lnSpc>
            </a:pPr>
            <a:endParaRPr lang="en-US" sz="2100" b="1">
              <a:solidFill>
                <a:srgbClr val="12100E"/>
              </a:solidFill>
              <a:latin typeface="Open Sauce" panose="020B0604020202020204" charset="0"/>
              <a:ea typeface="Open Sauce Bold"/>
              <a:cs typeface="Open Sauce Bold"/>
              <a:sym typeface="Open Sauce Bold"/>
            </a:endParaRPr>
          </a:p>
        </p:txBody>
      </p:sp>
      <p:pic>
        <p:nvPicPr>
          <p:cNvPr id="1030" name="Picture 6" descr="Op Wielekes">
            <a:extLst>
              <a:ext uri="{FF2B5EF4-FFF2-40B4-BE49-F238E27FC236}">
                <a16:creationId xmlns:a16="http://schemas.microsoft.com/office/drawing/2014/main" id="{DC242A6A-85E6-2ED7-BDEC-63730E0BE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5097" y="6813940"/>
            <a:ext cx="2162175" cy="2509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EFAE5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899759" y="8695111"/>
            <a:ext cx="3359541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100">
                <a:solidFill>
                  <a:srgbClr val="FE8213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id="3" name="AutoShape 3"/>
          <p:cNvSpPr/>
          <p:nvPr/>
        </p:nvSpPr>
        <p:spPr>
          <a:xfrm>
            <a:off x="664869" y="1028700"/>
            <a:ext cx="0" cy="639585"/>
          </a:xfrm>
          <a:prstGeom prst="line">
            <a:avLst/>
          </a:prstGeom>
          <a:ln w="114300" cap="flat">
            <a:solidFill>
              <a:srgbClr val="FE82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nl-BE"/>
          </a:p>
        </p:txBody>
      </p:sp>
      <p:sp>
        <p:nvSpPr>
          <p:cNvPr id="7" name="TextBox 7"/>
          <p:cNvSpPr txBox="1"/>
          <p:nvPr/>
        </p:nvSpPr>
        <p:spPr>
          <a:xfrm>
            <a:off x="1203353" y="1182062"/>
            <a:ext cx="10034500" cy="44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4000" b="1" spc="240" dirty="0">
                <a:solidFill>
                  <a:srgbClr val="12100E"/>
                </a:solidFill>
                <a:latin typeface="Open Sauce"/>
                <a:ea typeface="Open Sauce"/>
                <a:cs typeface="Open Sauce"/>
                <a:sym typeface="Open Sauce"/>
              </a:rPr>
              <a:t>Agenda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8200" y="2640522"/>
            <a:ext cx="8684843" cy="6971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919"/>
              </a:lnSpc>
              <a:buFont typeface="Wingdings" panose="05000000000000000000" pitchFamily="2" charset="2"/>
              <a:buChar char="§"/>
            </a:pPr>
            <a:r>
              <a:rPr lang="en-US" sz="3200" spc="-55">
                <a:solidFill>
                  <a:srgbClr val="12100E"/>
                </a:solidFill>
                <a:latin typeface="Open Sauce"/>
                <a:ea typeface="Open Sauce"/>
                <a:cs typeface="Open Sauce"/>
                <a:sym typeface="Open Sauce"/>
              </a:rPr>
              <a:t>About </a:t>
            </a:r>
            <a:r>
              <a:rPr lang="en-US" sz="3200" spc="-55" err="1">
                <a:solidFill>
                  <a:srgbClr val="12100E"/>
                </a:solidFill>
                <a:latin typeface="Open Sauce"/>
                <a:ea typeface="Open Sauce"/>
                <a:cs typeface="Open Sauce"/>
                <a:sym typeface="Open Sauce"/>
              </a:rPr>
              <a:t>Opwielekes</a:t>
            </a:r>
            <a:endParaRPr lang="en-US" sz="3200" spc="-55">
              <a:solidFill>
                <a:srgbClr val="12100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919"/>
              </a:lnSpc>
            </a:pPr>
            <a:endParaRPr lang="en-US" sz="3200" spc="-55">
              <a:solidFill>
                <a:srgbClr val="12100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457200" indent="-457200" algn="l">
              <a:lnSpc>
                <a:spcPts val="3919"/>
              </a:lnSpc>
              <a:buFont typeface="Wingdings" panose="05000000000000000000" pitchFamily="2" charset="2"/>
              <a:buChar char="§"/>
            </a:pPr>
            <a:r>
              <a:rPr lang="en-US" sz="3200" spc="-55">
                <a:solidFill>
                  <a:srgbClr val="12100E"/>
                </a:solidFill>
                <a:latin typeface="Open Sauce"/>
                <a:ea typeface="Open Sauce"/>
                <a:cs typeface="Open Sauce"/>
                <a:sym typeface="Open Sauce"/>
              </a:rPr>
              <a:t>Previous depot managing app</a:t>
            </a:r>
            <a:endParaRPr lang="en-US" sz="3200" spc="-55">
              <a:solidFill>
                <a:srgbClr val="12100E"/>
              </a:solidFill>
              <a:latin typeface="Open Sauce"/>
              <a:ea typeface="Open Sauce"/>
              <a:cs typeface="Open Sauce"/>
            </a:endParaRPr>
          </a:p>
          <a:p>
            <a:pPr algn="l">
              <a:lnSpc>
                <a:spcPts val="3919"/>
              </a:lnSpc>
            </a:pPr>
            <a:endParaRPr lang="en-US" sz="3200" spc="-55">
              <a:solidFill>
                <a:srgbClr val="12100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457200" indent="-457200" algn="l">
              <a:lnSpc>
                <a:spcPts val="3919"/>
              </a:lnSpc>
              <a:buFont typeface="Wingdings" panose="05000000000000000000" pitchFamily="2" charset="2"/>
              <a:buChar char="§"/>
            </a:pPr>
            <a:r>
              <a:rPr lang="en-US" sz="3200" spc="-55">
                <a:solidFill>
                  <a:srgbClr val="12100E"/>
                </a:solidFill>
                <a:latin typeface="Open Sauce"/>
                <a:ea typeface="Open Sauce"/>
                <a:cs typeface="Open Sauce"/>
                <a:sym typeface="Open Sauce"/>
              </a:rPr>
              <a:t>Our solution</a:t>
            </a:r>
            <a:endParaRPr lang="en-US" sz="3200" spc="-55">
              <a:solidFill>
                <a:srgbClr val="12100E"/>
              </a:solidFill>
              <a:latin typeface="Open Sauce"/>
              <a:ea typeface="Open Sauce"/>
              <a:cs typeface="Open Sauce"/>
            </a:endParaRPr>
          </a:p>
          <a:p>
            <a:pPr algn="l">
              <a:lnSpc>
                <a:spcPts val="3919"/>
              </a:lnSpc>
            </a:pPr>
            <a:endParaRPr lang="en-US" sz="3200" spc="-55">
              <a:solidFill>
                <a:srgbClr val="12100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457200" indent="-457200" algn="l">
              <a:lnSpc>
                <a:spcPts val="3919"/>
              </a:lnSpc>
              <a:buFont typeface="Wingdings" panose="05000000000000000000" pitchFamily="2" charset="2"/>
              <a:buChar char="§"/>
            </a:pPr>
            <a:r>
              <a:rPr lang="en-US" sz="3200" spc="-55">
                <a:solidFill>
                  <a:srgbClr val="12100E"/>
                </a:solidFill>
                <a:latin typeface="Open Sauce"/>
                <a:ea typeface="Open Sauce"/>
                <a:cs typeface="Open Sauce"/>
                <a:sym typeface="Open Sauce"/>
              </a:rPr>
              <a:t>Algorithm </a:t>
            </a:r>
          </a:p>
          <a:p>
            <a:pPr marL="457200" indent="-457200" algn="l">
              <a:lnSpc>
                <a:spcPts val="3919"/>
              </a:lnSpc>
              <a:buFont typeface="Wingdings" panose="05000000000000000000" pitchFamily="2" charset="2"/>
              <a:buChar char="§"/>
            </a:pPr>
            <a:endParaRPr lang="en-US" sz="3200" spc="-55">
              <a:solidFill>
                <a:srgbClr val="12100E"/>
              </a:solidFill>
              <a:latin typeface="Open Sauce"/>
            </a:endParaRPr>
          </a:p>
          <a:p>
            <a:pPr marL="457200" indent="-457200">
              <a:lnSpc>
                <a:spcPts val="3919"/>
              </a:lnSpc>
              <a:buFont typeface="Wingdings" panose="05000000000000000000" pitchFamily="2" charset="2"/>
              <a:buChar char="§"/>
            </a:pPr>
            <a:r>
              <a:rPr lang="en-US" sz="3200" spc="-55">
                <a:solidFill>
                  <a:srgbClr val="12100E"/>
                </a:solidFill>
                <a:latin typeface="Open Sauce"/>
                <a:ea typeface="Open Sauce"/>
                <a:cs typeface="Open Sauce"/>
              </a:rPr>
              <a:t>ERD-model</a:t>
            </a:r>
          </a:p>
          <a:p>
            <a:pPr>
              <a:lnSpc>
                <a:spcPts val="3919"/>
              </a:lnSpc>
            </a:pPr>
            <a:endParaRPr lang="en-US" sz="3200" spc="-55">
              <a:solidFill>
                <a:srgbClr val="12100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457200" indent="-457200" algn="l">
              <a:lnSpc>
                <a:spcPts val="3919"/>
              </a:lnSpc>
              <a:buFont typeface="Wingdings" panose="05000000000000000000" pitchFamily="2" charset="2"/>
              <a:buChar char="§"/>
            </a:pPr>
            <a:r>
              <a:rPr lang="en-US" sz="3200" spc="-55">
                <a:solidFill>
                  <a:srgbClr val="12100E"/>
                </a:solidFill>
                <a:latin typeface="Open Sauce"/>
                <a:ea typeface="Open Sauce"/>
                <a:cs typeface="Open Sauce"/>
                <a:sym typeface="Open Sauce"/>
              </a:rPr>
              <a:t>Upscaling</a:t>
            </a:r>
            <a:endParaRPr lang="en-US" sz="3200" spc="-55">
              <a:solidFill>
                <a:srgbClr val="12100E"/>
              </a:solidFill>
              <a:latin typeface="Open Sauce"/>
              <a:ea typeface="Open Sauce"/>
              <a:cs typeface="Open Sauce"/>
            </a:endParaRPr>
          </a:p>
          <a:p>
            <a:pPr marL="457200" indent="-457200" algn="l">
              <a:lnSpc>
                <a:spcPts val="3919"/>
              </a:lnSpc>
              <a:buFont typeface="Wingdings" panose="05000000000000000000" pitchFamily="2" charset="2"/>
              <a:buChar char="§"/>
            </a:pPr>
            <a:endParaRPr lang="en-US" sz="3200" spc="-55">
              <a:solidFill>
                <a:srgbClr val="12100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457200" indent="-457200" algn="l">
              <a:lnSpc>
                <a:spcPts val="3919"/>
              </a:lnSpc>
              <a:buFont typeface="Wingdings" panose="05000000000000000000" pitchFamily="2" charset="2"/>
              <a:buChar char="§"/>
            </a:pPr>
            <a:endParaRPr lang="en-US" sz="3200" spc="-55">
              <a:solidFill>
                <a:srgbClr val="12100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457200" indent="-457200" algn="l">
              <a:lnSpc>
                <a:spcPts val="3919"/>
              </a:lnSpc>
              <a:buFont typeface="Wingdings" panose="05000000000000000000" pitchFamily="2" charset="2"/>
              <a:buChar char="§"/>
            </a:pPr>
            <a:endParaRPr lang="en-US" sz="3200" spc="-55">
              <a:solidFill>
                <a:srgbClr val="12100E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089098" y="3580455"/>
            <a:ext cx="1621322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FFD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BRAND</a:t>
            </a:r>
          </a:p>
        </p:txBody>
      </p:sp>
      <p:sp>
        <p:nvSpPr>
          <p:cNvPr id="11" name="TextBox 11"/>
          <p:cNvSpPr txBox="1"/>
          <p:nvPr/>
        </p:nvSpPr>
        <p:spPr>
          <a:xfrm rot="3743841">
            <a:off x="11055432" y="6388590"/>
            <a:ext cx="1455986" cy="47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FFD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CONTENT</a:t>
            </a:r>
          </a:p>
        </p:txBody>
      </p:sp>
      <p:sp>
        <p:nvSpPr>
          <p:cNvPr id="12" name="TextBox 12"/>
          <p:cNvSpPr txBox="1"/>
          <p:nvPr/>
        </p:nvSpPr>
        <p:spPr>
          <a:xfrm rot="-3744000">
            <a:off x="14822916" y="6437251"/>
            <a:ext cx="2260736" cy="611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FFD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EFAE5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64869" y="1028700"/>
            <a:ext cx="0" cy="639585"/>
          </a:xfrm>
          <a:prstGeom prst="line">
            <a:avLst/>
          </a:prstGeom>
          <a:ln w="114300" cap="flat">
            <a:solidFill>
              <a:srgbClr val="FE82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nl-BE"/>
          </a:p>
        </p:txBody>
      </p:sp>
      <p:sp>
        <p:nvSpPr>
          <p:cNvPr id="5" name="TextBox 5"/>
          <p:cNvSpPr txBox="1"/>
          <p:nvPr/>
        </p:nvSpPr>
        <p:spPr>
          <a:xfrm>
            <a:off x="1028700" y="1134498"/>
            <a:ext cx="10034500" cy="44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  <a:spcBef>
                <a:spcPct val="0"/>
              </a:spcBef>
            </a:pPr>
            <a:r>
              <a:rPr lang="en-US" sz="4000" b="1" spc="240" dirty="0">
                <a:solidFill>
                  <a:srgbClr val="12100E"/>
                </a:solidFill>
                <a:latin typeface="Open Sauce"/>
                <a:ea typeface="Open Sauce"/>
                <a:cs typeface="Open Sauce"/>
                <a:sym typeface="Open Sauce"/>
              </a:rPr>
              <a:t>About Op </a:t>
            </a:r>
            <a:r>
              <a:rPr lang="en-US" sz="4000" b="1" spc="240" dirty="0" err="1">
                <a:solidFill>
                  <a:srgbClr val="12100E"/>
                </a:solidFill>
                <a:latin typeface="Open Sauce"/>
                <a:ea typeface="Open Sauce"/>
                <a:cs typeface="Open Sauce"/>
                <a:sym typeface="Open Sauce"/>
              </a:rPr>
              <a:t>Wielekes</a:t>
            </a:r>
            <a:endParaRPr lang="en-US" sz="4000" b="1" spc="240" dirty="0">
              <a:solidFill>
                <a:srgbClr val="12100E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3868400" y="8751086"/>
            <a:ext cx="3359541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100">
                <a:solidFill>
                  <a:srgbClr val="FE8213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pic>
        <p:nvPicPr>
          <p:cNvPr id="4" name="Afbeelding 3" descr="Afbeelding met tekst, schermopname, tekenfilm, cirkel&#10;&#10;Door AI gegenereerde inhoud is mogelijk onjuist.">
            <a:extLst>
              <a:ext uri="{FF2B5EF4-FFF2-40B4-BE49-F238E27FC236}">
                <a16:creationId xmlns:a16="http://schemas.microsoft.com/office/drawing/2014/main" id="{E6971024-4B8C-49DD-8D16-A357ED334F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291" y="1028700"/>
            <a:ext cx="14605417" cy="10287000"/>
          </a:xfrm>
          <a:prstGeom prst="rect">
            <a:avLst/>
          </a:prstGeom>
        </p:spPr>
      </p:pic>
      <p:sp>
        <p:nvSpPr>
          <p:cNvPr id="15" name="Pijl: gebogen 14">
            <a:extLst>
              <a:ext uri="{FF2B5EF4-FFF2-40B4-BE49-F238E27FC236}">
                <a16:creationId xmlns:a16="http://schemas.microsoft.com/office/drawing/2014/main" id="{06F22509-B317-34D7-E506-CE30308AB38C}"/>
              </a:ext>
            </a:extLst>
          </p:cNvPr>
          <p:cNvSpPr/>
          <p:nvPr/>
        </p:nvSpPr>
        <p:spPr>
          <a:xfrm>
            <a:off x="7511143" y="1630105"/>
            <a:ext cx="5208814" cy="311322"/>
          </a:xfrm>
          <a:prstGeom prst="ben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chemeClr val="tx1"/>
              </a:solidFill>
            </a:endParaRPr>
          </a:p>
        </p:txBody>
      </p:sp>
      <p:pic>
        <p:nvPicPr>
          <p:cNvPr id="20" name="Afbeelding 19" descr="Afbeelding met kaart, tekst, atlas">
            <a:extLst>
              <a:ext uri="{FF2B5EF4-FFF2-40B4-BE49-F238E27FC236}">
                <a16:creationId xmlns:a16="http://schemas.microsoft.com/office/drawing/2014/main" id="{C63A68A2-C515-FB73-B8DD-AFC2616775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9900" y="726655"/>
            <a:ext cx="4856539" cy="29585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EFAE5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16A28D-BC54-6504-19F1-8908475FD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2FA960F3-4867-7874-A32F-10D5A5EB6C72}"/>
              </a:ext>
            </a:extLst>
          </p:cNvPr>
          <p:cNvSpPr/>
          <p:nvPr/>
        </p:nvSpPr>
        <p:spPr>
          <a:xfrm>
            <a:off x="664869" y="1028700"/>
            <a:ext cx="0" cy="639585"/>
          </a:xfrm>
          <a:prstGeom prst="line">
            <a:avLst/>
          </a:prstGeom>
          <a:ln w="114300" cap="flat">
            <a:solidFill>
              <a:srgbClr val="FE82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nl-BE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E1F1FF3-6682-ECA2-CE8A-8BBBEB8B204F}"/>
              </a:ext>
            </a:extLst>
          </p:cNvPr>
          <p:cNvSpPr/>
          <p:nvPr/>
        </p:nvSpPr>
        <p:spPr>
          <a:xfrm rot="5400000">
            <a:off x="698442" y="2971026"/>
            <a:ext cx="660516" cy="660516"/>
          </a:xfrm>
          <a:custGeom>
            <a:avLst/>
            <a:gdLst/>
            <a:ahLst/>
            <a:cxnLst/>
            <a:rect l="l" t="t" r="r" b="b"/>
            <a:pathLst>
              <a:path w="660516" h="660516">
                <a:moveTo>
                  <a:pt x="0" y="0"/>
                </a:moveTo>
                <a:lnTo>
                  <a:pt x="660516" y="0"/>
                </a:lnTo>
                <a:lnTo>
                  <a:pt x="660516" y="660516"/>
                </a:lnTo>
                <a:lnTo>
                  <a:pt x="0" y="660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D11F348-4215-CB35-8F76-692799C4CDAF}"/>
              </a:ext>
            </a:extLst>
          </p:cNvPr>
          <p:cNvSpPr txBox="1"/>
          <p:nvPr/>
        </p:nvSpPr>
        <p:spPr>
          <a:xfrm>
            <a:off x="1028700" y="1134498"/>
            <a:ext cx="10034500" cy="44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4000" b="1" u="none" strike="noStrike" spc="240" dirty="0">
                <a:solidFill>
                  <a:srgbClr val="12100E"/>
                </a:solidFill>
                <a:latin typeface="Open Sauce"/>
                <a:ea typeface="Open Sauce"/>
                <a:cs typeface="Open Sauce"/>
                <a:sym typeface="Open Sauce"/>
              </a:rPr>
              <a:t>Previous app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6A53610-85D4-BD5C-7AFE-6DA6CBB0A921}"/>
              </a:ext>
            </a:extLst>
          </p:cNvPr>
          <p:cNvSpPr txBox="1"/>
          <p:nvPr/>
        </p:nvSpPr>
        <p:spPr>
          <a:xfrm>
            <a:off x="13899759" y="8695111"/>
            <a:ext cx="3359541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100" dirty="0">
                <a:solidFill>
                  <a:srgbClr val="FE8213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9EBE36-C2C8-522F-3B97-4B9EE96F7F19}"/>
              </a:ext>
            </a:extLst>
          </p:cNvPr>
          <p:cNvSpPr txBox="1"/>
          <p:nvPr/>
        </p:nvSpPr>
        <p:spPr>
          <a:xfrm>
            <a:off x="1460955" y="2978461"/>
            <a:ext cx="7820332" cy="4340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en-US" sz="2000" dirty="0">
                <a:latin typeface="Open Sauce" panose="020B0604020202020204" charset="0"/>
              </a:rPr>
              <a:t>No data-driven insights or economic added value</a:t>
            </a:r>
            <a:endParaRPr lang="en-US" sz="2000" spc="-55" dirty="0">
              <a:solidFill>
                <a:srgbClr val="12100E"/>
              </a:solidFill>
              <a:latin typeface="Open Sauce" panose="020B0604020202020204" charset="0"/>
              <a:ea typeface="Open Sauce"/>
              <a:cs typeface="Open Sauce"/>
              <a:sym typeface="Open Sauce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C951FF4-87E1-B917-9795-B51C2A3ECEEE}"/>
              </a:ext>
            </a:extLst>
          </p:cNvPr>
          <p:cNvSpPr/>
          <p:nvPr/>
        </p:nvSpPr>
        <p:spPr>
          <a:xfrm rot="5400000">
            <a:off x="698442" y="4922736"/>
            <a:ext cx="660516" cy="660516"/>
          </a:xfrm>
          <a:custGeom>
            <a:avLst/>
            <a:gdLst/>
            <a:ahLst/>
            <a:cxnLst/>
            <a:rect l="l" t="t" r="r" b="b"/>
            <a:pathLst>
              <a:path w="660516" h="660516">
                <a:moveTo>
                  <a:pt x="0" y="0"/>
                </a:moveTo>
                <a:lnTo>
                  <a:pt x="660516" y="0"/>
                </a:lnTo>
                <a:lnTo>
                  <a:pt x="660516" y="660516"/>
                </a:lnTo>
                <a:lnTo>
                  <a:pt x="0" y="660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ED33D05E-BB19-83C7-0D2C-E7A88DDFF2D0}"/>
              </a:ext>
            </a:extLst>
          </p:cNvPr>
          <p:cNvSpPr/>
          <p:nvPr/>
        </p:nvSpPr>
        <p:spPr>
          <a:xfrm rot="5400000">
            <a:off x="664869" y="6874446"/>
            <a:ext cx="660516" cy="660516"/>
          </a:xfrm>
          <a:custGeom>
            <a:avLst/>
            <a:gdLst/>
            <a:ahLst/>
            <a:cxnLst/>
            <a:rect l="l" t="t" r="r" b="b"/>
            <a:pathLst>
              <a:path w="660516" h="660516">
                <a:moveTo>
                  <a:pt x="0" y="0"/>
                </a:moveTo>
                <a:lnTo>
                  <a:pt x="660516" y="0"/>
                </a:lnTo>
                <a:lnTo>
                  <a:pt x="660516" y="660516"/>
                </a:lnTo>
                <a:lnTo>
                  <a:pt x="0" y="660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2" name="TextBox 9">
            <a:extLst>
              <a:ext uri="{FF2B5EF4-FFF2-40B4-BE49-F238E27FC236}">
                <a16:creationId xmlns:a16="http://schemas.microsoft.com/office/drawing/2014/main" id="{9DD313B2-B3F3-CAEC-1E66-72D95648DDC8}"/>
              </a:ext>
            </a:extLst>
          </p:cNvPr>
          <p:cNvSpPr txBox="1"/>
          <p:nvPr/>
        </p:nvSpPr>
        <p:spPr>
          <a:xfrm>
            <a:off x="1460955" y="4922736"/>
            <a:ext cx="7820332" cy="9342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en-US" sz="2000" dirty="0">
                <a:latin typeface="Open Sauce" panose="020B0604020202020204" charset="0"/>
              </a:rPr>
              <a:t>Inflexible design with no room for generalization or additional object types</a:t>
            </a:r>
            <a:endParaRPr lang="en-US" sz="2000" spc="-55" dirty="0">
              <a:solidFill>
                <a:srgbClr val="12100E"/>
              </a:solidFill>
              <a:latin typeface="Open Sauce" panose="020B0604020202020204" charset="0"/>
              <a:ea typeface="Open Sauce"/>
              <a:cs typeface="Open Sauce"/>
              <a:sym typeface="Open Sauce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6A9A88-2734-E5A0-468D-E1321F0241E6}"/>
              </a:ext>
            </a:extLst>
          </p:cNvPr>
          <p:cNvSpPr txBox="1"/>
          <p:nvPr/>
        </p:nvSpPr>
        <p:spPr>
          <a:xfrm>
            <a:off x="1325385" y="6963494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Open Sauce" panose="020B0604020202020204" charset="0"/>
              </a:rPr>
              <a:t>Cluttered and unorganized tables, a lack of operational oversight over the data </a:t>
            </a:r>
            <a:endParaRPr lang="nl-BE" sz="2000" dirty="0">
              <a:latin typeface="Open Sauc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33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EFAE5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3D21A5-C4D3-6577-3D6B-082CD1131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6D4C20DC-FCBE-F45B-D34F-C98AAC1A7AED}"/>
              </a:ext>
            </a:extLst>
          </p:cNvPr>
          <p:cNvSpPr/>
          <p:nvPr/>
        </p:nvSpPr>
        <p:spPr>
          <a:xfrm>
            <a:off x="664869" y="1028700"/>
            <a:ext cx="0" cy="639585"/>
          </a:xfrm>
          <a:prstGeom prst="line">
            <a:avLst/>
          </a:prstGeom>
          <a:ln w="114300" cap="flat">
            <a:solidFill>
              <a:srgbClr val="FE82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nl-BE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4390191-9DFC-B29C-B688-AAEB4FCB2E29}"/>
              </a:ext>
            </a:extLst>
          </p:cNvPr>
          <p:cNvSpPr/>
          <p:nvPr/>
        </p:nvSpPr>
        <p:spPr>
          <a:xfrm rot="5400000">
            <a:off x="698442" y="2971026"/>
            <a:ext cx="660516" cy="660516"/>
          </a:xfrm>
          <a:custGeom>
            <a:avLst/>
            <a:gdLst/>
            <a:ahLst/>
            <a:cxnLst/>
            <a:rect l="l" t="t" r="r" b="b"/>
            <a:pathLst>
              <a:path w="660516" h="660516">
                <a:moveTo>
                  <a:pt x="0" y="0"/>
                </a:moveTo>
                <a:lnTo>
                  <a:pt x="660516" y="0"/>
                </a:lnTo>
                <a:lnTo>
                  <a:pt x="660516" y="660516"/>
                </a:lnTo>
                <a:lnTo>
                  <a:pt x="0" y="660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D12DFBC-481F-32C4-3F53-C2B5B8AC6BA9}"/>
              </a:ext>
            </a:extLst>
          </p:cNvPr>
          <p:cNvSpPr txBox="1"/>
          <p:nvPr/>
        </p:nvSpPr>
        <p:spPr>
          <a:xfrm>
            <a:off x="1028700" y="1946409"/>
            <a:ext cx="8684843" cy="600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en-US" sz="3600" u="none" strike="noStrike" spc="-72" dirty="0">
                <a:solidFill>
                  <a:srgbClr val="12100E"/>
                </a:solidFill>
                <a:latin typeface="Open Sauce" panose="020B0604020202020204" charset="0"/>
                <a:ea typeface="Noto Serif Bold"/>
                <a:cs typeface="Noto Serif Bold"/>
                <a:sym typeface="Noto Serif Bold"/>
              </a:rPr>
              <a:t>Role-based log in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1C61DDF-1DE2-1FB6-0621-FC962ACC053E}"/>
              </a:ext>
            </a:extLst>
          </p:cNvPr>
          <p:cNvSpPr txBox="1"/>
          <p:nvPr/>
        </p:nvSpPr>
        <p:spPr>
          <a:xfrm>
            <a:off x="1028700" y="1134498"/>
            <a:ext cx="10034500" cy="44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4000" b="1" u="none" strike="noStrike" spc="240" dirty="0">
                <a:solidFill>
                  <a:srgbClr val="12100E"/>
                </a:solidFill>
                <a:latin typeface="Open Sauce"/>
                <a:ea typeface="Open Sauce"/>
                <a:cs typeface="Open Sauce"/>
                <a:sym typeface="Open Sauce"/>
              </a:rPr>
              <a:t>Our solution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34630BE-658A-9D51-E367-CCA6504F96FA}"/>
              </a:ext>
            </a:extLst>
          </p:cNvPr>
          <p:cNvSpPr txBox="1"/>
          <p:nvPr/>
        </p:nvSpPr>
        <p:spPr>
          <a:xfrm>
            <a:off x="13899759" y="8695111"/>
            <a:ext cx="3359541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100">
                <a:solidFill>
                  <a:srgbClr val="FE8213"/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FCBE723-1CD7-FB6F-D2AB-0EC9C530C7A4}"/>
              </a:ext>
            </a:extLst>
          </p:cNvPr>
          <p:cNvSpPr txBox="1"/>
          <p:nvPr/>
        </p:nvSpPr>
        <p:spPr>
          <a:xfrm>
            <a:off x="1460955" y="2978461"/>
            <a:ext cx="7820332" cy="4340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en-US" sz="2000">
                <a:latin typeface="Open Sauce" panose="020B0604020202020204" charset="0"/>
              </a:rPr>
              <a:t>Distinct interfaces for depot, finance, and admin roles</a:t>
            </a:r>
            <a:endParaRPr lang="en-US" sz="2000" spc="-55">
              <a:solidFill>
                <a:srgbClr val="12100E"/>
              </a:solidFill>
              <a:latin typeface="Open Sauce" panose="020B0604020202020204" charset="0"/>
              <a:ea typeface="Open Sauce"/>
              <a:cs typeface="Open Sauce"/>
              <a:sym typeface="Open Sauce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97C9B51-7597-FEDC-EC04-A0D2774920FD}"/>
              </a:ext>
            </a:extLst>
          </p:cNvPr>
          <p:cNvSpPr txBox="1"/>
          <p:nvPr/>
        </p:nvSpPr>
        <p:spPr>
          <a:xfrm>
            <a:off x="1460955" y="4686300"/>
            <a:ext cx="7820332" cy="14343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  <a:spcBef>
                <a:spcPct val="0"/>
              </a:spcBef>
            </a:pPr>
            <a:r>
              <a:rPr lang="en-US" sz="2000">
                <a:latin typeface="Open Sauce" panose="020B0604020202020204" charset="0"/>
              </a:rPr>
              <a:t>Depot </a:t>
            </a:r>
            <a:r>
              <a:rPr lang="en-US" sz="2000">
                <a:latin typeface="Open Sauce" panose="020B0604020202020204" charset="0"/>
                <a:sym typeface="Wingdings" panose="05000000000000000000" pitchFamily="2" charset="2"/>
              </a:rPr>
              <a:t> access to inventory, members</a:t>
            </a:r>
          </a:p>
          <a:p>
            <a:pPr marL="0" lvl="1">
              <a:lnSpc>
                <a:spcPts val="3919"/>
              </a:lnSpc>
              <a:spcBef>
                <a:spcPct val="0"/>
              </a:spcBef>
            </a:pPr>
            <a:r>
              <a:rPr lang="en-US" sz="2000" u="none" strike="noStrike" spc="-55">
                <a:solidFill>
                  <a:srgbClr val="12100E"/>
                </a:solidFill>
                <a:latin typeface="Open Sauce" panose="020B0604020202020204" charset="0"/>
                <a:ea typeface="Open Sauce"/>
                <a:cs typeface="Open Sauce"/>
                <a:sym typeface="Wingdings" panose="05000000000000000000" pitchFamily="2" charset="2"/>
              </a:rPr>
              <a:t>Finance  access to </a:t>
            </a:r>
            <a:r>
              <a:rPr lang="en-US" sz="2000" spc="-55">
                <a:solidFill>
                  <a:srgbClr val="12100E"/>
                </a:solidFill>
                <a:latin typeface="Open Sauce" panose="020B0604020202020204" charset="0"/>
                <a:ea typeface="Open Sauce"/>
                <a:cs typeface="Open Sauce"/>
                <a:sym typeface="Wingdings" panose="05000000000000000000" pitchFamily="2" charset="2"/>
              </a:rPr>
              <a:t>rentals, payments</a:t>
            </a:r>
          </a:p>
          <a:p>
            <a:pPr marL="0" lvl="1">
              <a:lnSpc>
                <a:spcPts val="3919"/>
              </a:lnSpc>
              <a:spcBef>
                <a:spcPct val="0"/>
              </a:spcBef>
            </a:pPr>
            <a:r>
              <a:rPr lang="en-US" sz="2000" u="none" strike="noStrike" spc="-55">
                <a:solidFill>
                  <a:srgbClr val="12100E"/>
                </a:solidFill>
                <a:latin typeface="Open Sauce" panose="020B0604020202020204" charset="0"/>
                <a:ea typeface="Open Sauce"/>
                <a:cs typeface="Open Sauce"/>
                <a:sym typeface="Wingdings" panose="05000000000000000000" pitchFamily="2" charset="2"/>
              </a:rPr>
              <a:t>Admin  access to all</a:t>
            </a:r>
            <a:endParaRPr lang="en-US" sz="2000" u="none" strike="noStrike" spc="-55">
              <a:solidFill>
                <a:srgbClr val="12100E"/>
              </a:solidFill>
              <a:latin typeface="Open Sauce" panose="020B0604020202020204" charset="0"/>
              <a:ea typeface="Open Sauce"/>
              <a:cs typeface="Open Sauce"/>
              <a:sym typeface="Open Sauce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82D8142-D437-E235-051F-0CB180481741}"/>
              </a:ext>
            </a:extLst>
          </p:cNvPr>
          <p:cNvSpPr/>
          <p:nvPr/>
        </p:nvSpPr>
        <p:spPr>
          <a:xfrm rot="5400000">
            <a:off x="698442" y="4922736"/>
            <a:ext cx="660516" cy="660516"/>
          </a:xfrm>
          <a:custGeom>
            <a:avLst/>
            <a:gdLst/>
            <a:ahLst/>
            <a:cxnLst/>
            <a:rect l="l" t="t" r="r" b="b"/>
            <a:pathLst>
              <a:path w="660516" h="660516">
                <a:moveTo>
                  <a:pt x="0" y="0"/>
                </a:moveTo>
                <a:lnTo>
                  <a:pt x="660516" y="0"/>
                </a:lnTo>
                <a:lnTo>
                  <a:pt x="660516" y="660516"/>
                </a:lnTo>
                <a:lnTo>
                  <a:pt x="0" y="660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081EFDF7-9732-91B7-382B-DFB0D4E0F28D}"/>
              </a:ext>
            </a:extLst>
          </p:cNvPr>
          <p:cNvSpPr/>
          <p:nvPr/>
        </p:nvSpPr>
        <p:spPr>
          <a:xfrm rot="5400000">
            <a:off x="664869" y="6874446"/>
            <a:ext cx="660516" cy="660516"/>
          </a:xfrm>
          <a:custGeom>
            <a:avLst/>
            <a:gdLst/>
            <a:ahLst/>
            <a:cxnLst/>
            <a:rect l="l" t="t" r="r" b="b"/>
            <a:pathLst>
              <a:path w="660516" h="660516">
                <a:moveTo>
                  <a:pt x="0" y="0"/>
                </a:moveTo>
                <a:lnTo>
                  <a:pt x="660516" y="0"/>
                </a:lnTo>
                <a:lnTo>
                  <a:pt x="660516" y="660516"/>
                </a:lnTo>
                <a:lnTo>
                  <a:pt x="0" y="660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08862E63-4B08-6C8F-D680-FCB20993F739}"/>
              </a:ext>
            </a:extLst>
          </p:cNvPr>
          <p:cNvSpPr txBox="1"/>
          <p:nvPr/>
        </p:nvSpPr>
        <p:spPr>
          <a:xfrm>
            <a:off x="1460955" y="6874446"/>
            <a:ext cx="7820332" cy="934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  <a:spcBef>
                <a:spcPct val="0"/>
              </a:spcBef>
            </a:pPr>
            <a:r>
              <a:rPr lang="en-US" sz="2000">
                <a:latin typeface="Open Sauce" panose="020B0604020202020204" charset="0"/>
              </a:rPr>
              <a:t>By separating roles, the app minimizes clutter, allowing staff to focus on their core tasks</a:t>
            </a:r>
            <a:endParaRPr lang="en-US" sz="2000" u="none" strike="noStrike" spc="-55">
              <a:solidFill>
                <a:srgbClr val="12100E"/>
              </a:solidFill>
              <a:latin typeface="Open Sauce" panose="020B0604020202020204" charset="0"/>
              <a:ea typeface="Open Sauce"/>
              <a:cs typeface="Open Sauce"/>
              <a:sym typeface="Open Sauce"/>
            </a:endParaRPr>
          </a:p>
        </p:txBody>
      </p:sp>
      <p:pic>
        <p:nvPicPr>
          <p:cNvPr id="8" name="Picture 7" descr="A screenshot of a login">
            <a:extLst>
              <a:ext uri="{FF2B5EF4-FFF2-40B4-BE49-F238E27FC236}">
                <a16:creationId xmlns:a16="http://schemas.microsoft.com/office/drawing/2014/main" id="{D8B9287E-6342-2AF7-6AA4-F1EF9A3E60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55" t="633" r="34523" b="-633"/>
          <a:stretch>
            <a:fillRect/>
          </a:stretch>
        </p:blipFill>
        <p:spPr>
          <a:xfrm>
            <a:off x="11427030" y="1348492"/>
            <a:ext cx="4422570" cy="672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999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EFAE5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64869" y="1028700"/>
            <a:ext cx="0" cy="639585"/>
          </a:xfrm>
          <a:prstGeom prst="line">
            <a:avLst/>
          </a:prstGeom>
          <a:ln w="114300" cap="flat">
            <a:solidFill>
              <a:srgbClr val="FE82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nl-BE"/>
          </a:p>
        </p:txBody>
      </p:sp>
      <p:sp>
        <p:nvSpPr>
          <p:cNvPr id="4" name="Freeform 4"/>
          <p:cNvSpPr/>
          <p:nvPr/>
        </p:nvSpPr>
        <p:spPr>
          <a:xfrm rot="5400000">
            <a:off x="698442" y="2971026"/>
            <a:ext cx="660516" cy="660516"/>
          </a:xfrm>
          <a:custGeom>
            <a:avLst/>
            <a:gdLst/>
            <a:ahLst/>
            <a:cxnLst/>
            <a:rect l="l" t="t" r="r" b="b"/>
            <a:pathLst>
              <a:path w="660516" h="660516">
                <a:moveTo>
                  <a:pt x="0" y="0"/>
                </a:moveTo>
                <a:lnTo>
                  <a:pt x="660516" y="0"/>
                </a:lnTo>
                <a:lnTo>
                  <a:pt x="660516" y="660516"/>
                </a:lnTo>
                <a:lnTo>
                  <a:pt x="0" y="660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5" name="TextBox 5"/>
          <p:cNvSpPr txBox="1"/>
          <p:nvPr/>
        </p:nvSpPr>
        <p:spPr>
          <a:xfrm>
            <a:off x="1028700" y="1946409"/>
            <a:ext cx="8684843" cy="600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en-US" sz="3600" u="none" strike="noStrike" spc="-72" dirty="0">
                <a:solidFill>
                  <a:srgbClr val="12100E"/>
                </a:solidFill>
                <a:latin typeface="Open Sauce" panose="020B0604020202020204" charset="0"/>
                <a:ea typeface="Noto Serif Bold"/>
                <a:cs typeface="Noto Serif Bold"/>
                <a:sym typeface="Noto Serif Bold"/>
              </a:rPr>
              <a:t>Dashboard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134498"/>
            <a:ext cx="10034500" cy="44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4000" b="1" u="none" strike="noStrike" spc="240" dirty="0">
                <a:solidFill>
                  <a:srgbClr val="12100E"/>
                </a:solidFill>
                <a:latin typeface="Open Sauce"/>
                <a:ea typeface="Open Sauce"/>
                <a:cs typeface="Open Sauce"/>
                <a:sym typeface="Open Sauce"/>
              </a:rPr>
              <a:t>Our solution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899759" y="8695111"/>
            <a:ext cx="3359541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100">
                <a:solidFill>
                  <a:srgbClr val="FE8213"/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58958" y="3044976"/>
            <a:ext cx="7820332" cy="4340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en-US" sz="2000">
                <a:latin typeface="Open Sauce" panose="020B0604020202020204" charset="0"/>
              </a:rPr>
              <a:t>Streamline daily operations with "Quick Actions"</a:t>
            </a:r>
            <a:endParaRPr lang="en-US" sz="2000" spc="-55">
              <a:solidFill>
                <a:srgbClr val="12100E"/>
              </a:solidFill>
              <a:latin typeface="Open Sauce" panose="020B0604020202020204" charset="0"/>
              <a:ea typeface="Open Sauce"/>
              <a:cs typeface="Open Sauce"/>
              <a:sym typeface="Open Sauce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60955" y="4880202"/>
            <a:ext cx="7820332" cy="9342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  <a:spcBef>
                <a:spcPct val="0"/>
              </a:spcBef>
            </a:pPr>
            <a:r>
              <a:rPr lang="en-US" sz="2000">
                <a:latin typeface="Open Sauce" panose="020B0604020202020204" charset="0"/>
              </a:rPr>
              <a:t>Gain a complete real-time overview of your entire bike inventory</a:t>
            </a:r>
            <a:endParaRPr lang="en-US" sz="2000" u="none" strike="noStrike" spc="-55">
              <a:solidFill>
                <a:srgbClr val="12100E"/>
              </a:solidFill>
              <a:latin typeface="Open Sauce" panose="020B0604020202020204" charset="0"/>
              <a:ea typeface="Open Sauce"/>
              <a:cs typeface="Open Sauce"/>
              <a:sym typeface="Open Sauce"/>
            </a:endParaRPr>
          </a:p>
        </p:txBody>
      </p:sp>
      <p:sp>
        <p:nvSpPr>
          <p:cNvPr id="12" name="Freeform 12"/>
          <p:cNvSpPr/>
          <p:nvPr/>
        </p:nvSpPr>
        <p:spPr>
          <a:xfrm rot="5400000">
            <a:off x="698442" y="4922736"/>
            <a:ext cx="660516" cy="660516"/>
          </a:xfrm>
          <a:custGeom>
            <a:avLst/>
            <a:gdLst/>
            <a:ahLst/>
            <a:cxnLst/>
            <a:rect l="l" t="t" r="r" b="b"/>
            <a:pathLst>
              <a:path w="660516" h="660516">
                <a:moveTo>
                  <a:pt x="0" y="0"/>
                </a:moveTo>
                <a:lnTo>
                  <a:pt x="660516" y="0"/>
                </a:lnTo>
                <a:lnTo>
                  <a:pt x="660516" y="660516"/>
                </a:lnTo>
                <a:lnTo>
                  <a:pt x="0" y="660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13" name="Freeform 13"/>
          <p:cNvSpPr/>
          <p:nvPr/>
        </p:nvSpPr>
        <p:spPr>
          <a:xfrm rot="5400000">
            <a:off x="664869" y="6874446"/>
            <a:ext cx="660516" cy="660516"/>
          </a:xfrm>
          <a:custGeom>
            <a:avLst/>
            <a:gdLst/>
            <a:ahLst/>
            <a:cxnLst/>
            <a:rect l="l" t="t" r="r" b="b"/>
            <a:pathLst>
              <a:path w="660516" h="660516">
                <a:moveTo>
                  <a:pt x="0" y="0"/>
                </a:moveTo>
                <a:lnTo>
                  <a:pt x="660516" y="0"/>
                </a:lnTo>
                <a:lnTo>
                  <a:pt x="660516" y="660516"/>
                </a:lnTo>
                <a:lnTo>
                  <a:pt x="0" y="660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4894BF3C-2DB1-3729-3814-E8873393BE48}"/>
              </a:ext>
            </a:extLst>
          </p:cNvPr>
          <p:cNvSpPr txBox="1"/>
          <p:nvPr/>
        </p:nvSpPr>
        <p:spPr>
          <a:xfrm>
            <a:off x="1460955" y="6874446"/>
            <a:ext cx="7820332" cy="4409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  <a:spcBef>
                <a:spcPct val="0"/>
              </a:spcBef>
            </a:pPr>
            <a:r>
              <a:rPr lang="en-US" sz="2000">
                <a:latin typeface="Open Sauce" panose="020B0604020202020204" charset="0"/>
              </a:rPr>
              <a:t>Monitor performance through visual data tracking</a:t>
            </a:r>
            <a:endParaRPr lang="en-US" sz="2000" u="none" strike="noStrike" spc="-55">
              <a:solidFill>
                <a:srgbClr val="12100E"/>
              </a:solidFill>
              <a:latin typeface="Open Sauce" panose="020B0604020202020204" charset="0"/>
              <a:ea typeface="Open Sauce"/>
              <a:cs typeface="Open Sauce"/>
              <a:sym typeface="Open Sauce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AF3E1AF-D2A3-44BA-5CAA-998CCFAC7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8913" y="1738577"/>
            <a:ext cx="9153461" cy="216567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6F9E430-E4F3-B4B6-4FD2-1806613A5D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8913" y="4019738"/>
            <a:ext cx="9153460" cy="46689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EFAE5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64869" y="1028700"/>
            <a:ext cx="0" cy="639585"/>
          </a:xfrm>
          <a:prstGeom prst="line">
            <a:avLst/>
          </a:prstGeom>
          <a:ln w="114300" cap="flat">
            <a:solidFill>
              <a:srgbClr val="FE82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nl-BE"/>
          </a:p>
        </p:txBody>
      </p:sp>
      <p:sp>
        <p:nvSpPr>
          <p:cNvPr id="6" name="TextBox 6"/>
          <p:cNvSpPr txBox="1"/>
          <p:nvPr/>
        </p:nvSpPr>
        <p:spPr>
          <a:xfrm>
            <a:off x="13840765" y="8695111"/>
            <a:ext cx="3359541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100">
                <a:solidFill>
                  <a:srgbClr val="FE8213"/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87EBA94-38E1-6A11-0E78-311B8C32E20E}"/>
              </a:ext>
            </a:extLst>
          </p:cNvPr>
          <p:cNvSpPr txBox="1"/>
          <p:nvPr/>
        </p:nvSpPr>
        <p:spPr>
          <a:xfrm>
            <a:off x="1028700" y="1134498"/>
            <a:ext cx="10034500" cy="44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4000" b="1" u="none" strike="noStrike" spc="240" dirty="0">
                <a:solidFill>
                  <a:srgbClr val="12100E"/>
                </a:solidFill>
                <a:latin typeface="Open Sauce"/>
                <a:ea typeface="Open Sauce"/>
                <a:cs typeface="Open Sauce"/>
                <a:sym typeface="Open Sauce"/>
              </a:rPr>
              <a:t>Our solution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776B26E4-02C4-0317-A497-77844D0FC391}"/>
              </a:ext>
            </a:extLst>
          </p:cNvPr>
          <p:cNvSpPr txBox="1"/>
          <p:nvPr/>
        </p:nvSpPr>
        <p:spPr>
          <a:xfrm>
            <a:off x="1028700" y="1943100"/>
            <a:ext cx="8684843" cy="600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en-US" sz="3600" u="none" strike="noStrike" spc="-72" dirty="0">
                <a:solidFill>
                  <a:srgbClr val="12100E"/>
                </a:solidFill>
                <a:latin typeface="Open Sauce" panose="020B0604020202020204" charset="0"/>
                <a:ea typeface="Noto Serif Bold"/>
                <a:cs typeface="Noto Serif Bold"/>
                <a:sym typeface="Noto Serif Bold"/>
              </a:rPr>
              <a:t>Inventory</a:t>
            </a:r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405994C9-2816-7D7C-DD8A-FDC282943B6E}"/>
              </a:ext>
            </a:extLst>
          </p:cNvPr>
          <p:cNvSpPr/>
          <p:nvPr/>
        </p:nvSpPr>
        <p:spPr>
          <a:xfrm rot="5400000">
            <a:off x="664869" y="3167288"/>
            <a:ext cx="660516" cy="660516"/>
          </a:xfrm>
          <a:custGeom>
            <a:avLst/>
            <a:gdLst/>
            <a:ahLst/>
            <a:cxnLst/>
            <a:rect l="l" t="t" r="r" b="b"/>
            <a:pathLst>
              <a:path w="660516" h="660516">
                <a:moveTo>
                  <a:pt x="0" y="0"/>
                </a:moveTo>
                <a:lnTo>
                  <a:pt x="660516" y="0"/>
                </a:lnTo>
                <a:lnTo>
                  <a:pt x="660516" y="660516"/>
                </a:lnTo>
                <a:lnTo>
                  <a:pt x="0" y="660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E75E994E-3EDA-F76C-1673-761DB1AD8AA6}"/>
              </a:ext>
            </a:extLst>
          </p:cNvPr>
          <p:cNvSpPr/>
          <p:nvPr/>
        </p:nvSpPr>
        <p:spPr>
          <a:xfrm rot="5400000">
            <a:off x="664869" y="4859189"/>
            <a:ext cx="660516" cy="660516"/>
          </a:xfrm>
          <a:custGeom>
            <a:avLst/>
            <a:gdLst/>
            <a:ahLst/>
            <a:cxnLst/>
            <a:rect l="l" t="t" r="r" b="b"/>
            <a:pathLst>
              <a:path w="660516" h="660516">
                <a:moveTo>
                  <a:pt x="0" y="0"/>
                </a:moveTo>
                <a:lnTo>
                  <a:pt x="660516" y="0"/>
                </a:lnTo>
                <a:lnTo>
                  <a:pt x="660516" y="660516"/>
                </a:lnTo>
                <a:lnTo>
                  <a:pt x="0" y="660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14" name="Freeform 4">
            <a:extLst>
              <a:ext uri="{FF2B5EF4-FFF2-40B4-BE49-F238E27FC236}">
                <a16:creationId xmlns:a16="http://schemas.microsoft.com/office/drawing/2014/main" id="{E0B02A98-2DAC-C37F-0BF3-716FD61DADA9}"/>
              </a:ext>
            </a:extLst>
          </p:cNvPr>
          <p:cNvSpPr/>
          <p:nvPr/>
        </p:nvSpPr>
        <p:spPr>
          <a:xfrm rot="5400000">
            <a:off x="664869" y="6644155"/>
            <a:ext cx="660516" cy="660516"/>
          </a:xfrm>
          <a:custGeom>
            <a:avLst/>
            <a:gdLst/>
            <a:ahLst/>
            <a:cxnLst/>
            <a:rect l="l" t="t" r="r" b="b"/>
            <a:pathLst>
              <a:path w="660516" h="660516">
                <a:moveTo>
                  <a:pt x="0" y="0"/>
                </a:moveTo>
                <a:lnTo>
                  <a:pt x="660516" y="0"/>
                </a:lnTo>
                <a:lnTo>
                  <a:pt x="660516" y="660516"/>
                </a:lnTo>
                <a:lnTo>
                  <a:pt x="0" y="660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B910377A-EBFF-BC22-9DED-6CE3624671BA}"/>
              </a:ext>
            </a:extLst>
          </p:cNvPr>
          <p:cNvSpPr txBox="1"/>
          <p:nvPr/>
        </p:nvSpPr>
        <p:spPr>
          <a:xfrm>
            <a:off x="1385259" y="3030431"/>
            <a:ext cx="8166042" cy="9342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en-US" sz="2000" dirty="0">
                <a:latin typeface="Open Sauce" panose="020B0604020202020204" charset="0"/>
              </a:rPr>
              <a:t>Maintain a clear overview of all available, rented, and unavailable bicycles and accessories, categorized by type</a:t>
            </a:r>
            <a:endParaRPr lang="en-US" sz="2000" spc="-55" dirty="0">
              <a:solidFill>
                <a:srgbClr val="12100E"/>
              </a:solidFill>
              <a:latin typeface="Open Sauce" panose="020B0604020202020204" charset="0"/>
              <a:ea typeface="Open Sauce"/>
              <a:cs typeface="Open Sauce"/>
              <a:sym typeface="Open Sauce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286228-8D93-9CF9-332A-12FE06A9317C}"/>
              </a:ext>
            </a:extLst>
          </p:cNvPr>
          <p:cNvSpPr txBox="1"/>
          <p:nvPr/>
        </p:nvSpPr>
        <p:spPr>
          <a:xfrm>
            <a:off x="1358958" y="4859189"/>
            <a:ext cx="75301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Open Sauce" panose="020B0604020202020204" charset="0"/>
              </a:rPr>
              <a:t>Streamline operations with direct management tools to initiate rentals, or mark items as in repair or repaired</a:t>
            </a:r>
            <a:endParaRPr lang="nl-BE" sz="2000" dirty="0">
              <a:latin typeface="Open Sauce" panose="020B060402020202020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EF1C4A-796A-4A95-57FF-F14D0EB80BD7}"/>
              </a:ext>
            </a:extLst>
          </p:cNvPr>
          <p:cNvSpPr txBox="1"/>
          <p:nvPr/>
        </p:nvSpPr>
        <p:spPr>
          <a:xfrm>
            <a:off x="1385259" y="6666284"/>
            <a:ext cx="75301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Open Sauce" panose="020B0604020202020204" charset="0"/>
              </a:rPr>
              <a:t>Allows for the seamless addition of various categories like helmets and accessories to support future growth</a:t>
            </a:r>
            <a:endParaRPr lang="nl-BE" sz="2000" dirty="0">
              <a:latin typeface="Open Sauce" panose="020B0604020202020204" charset="0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0561C4-7BA5-CCC4-40EE-91849BF9E7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427" y="2827575"/>
            <a:ext cx="8569245" cy="44770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EFAE5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F51537-CFFB-E295-FD4A-AC50338E5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48CC42B3-ADB7-CA53-AC45-D30ACBF1AC9F}"/>
              </a:ext>
            </a:extLst>
          </p:cNvPr>
          <p:cNvSpPr/>
          <p:nvPr/>
        </p:nvSpPr>
        <p:spPr>
          <a:xfrm>
            <a:off x="664869" y="1028700"/>
            <a:ext cx="0" cy="639585"/>
          </a:xfrm>
          <a:prstGeom prst="line">
            <a:avLst/>
          </a:prstGeom>
          <a:ln w="114300" cap="flat">
            <a:solidFill>
              <a:srgbClr val="FE82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nl-BE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1EC89CA-E351-0AFE-5F8C-A27AFC418DA4}"/>
              </a:ext>
            </a:extLst>
          </p:cNvPr>
          <p:cNvSpPr txBox="1"/>
          <p:nvPr/>
        </p:nvSpPr>
        <p:spPr>
          <a:xfrm>
            <a:off x="13899759" y="8695111"/>
            <a:ext cx="3359541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100" dirty="0">
                <a:solidFill>
                  <a:srgbClr val="FE8213"/>
                </a:solidFill>
                <a:latin typeface="Open Sauce"/>
                <a:ea typeface="Open Sauce"/>
                <a:cs typeface="Open Sauce"/>
                <a:sym typeface="Open Sauce"/>
              </a:rPr>
              <a:t>8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5BB273DA-8CD3-20CC-9C63-5CD713A98A3E}"/>
              </a:ext>
            </a:extLst>
          </p:cNvPr>
          <p:cNvSpPr txBox="1"/>
          <p:nvPr/>
        </p:nvSpPr>
        <p:spPr>
          <a:xfrm>
            <a:off x="1028700" y="1134498"/>
            <a:ext cx="10034500" cy="44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4000" b="1" u="none" strike="noStrike" spc="240" dirty="0">
                <a:solidFill>
                  <a:srgbClr val="12100E"/>
                </a:solidFill>
                <a:latin typeface="Open Sauce"/>
                <a:ea typeface="Open Sauce"/>
                <a:cs typeface="Open Sauce"/>
                <a:sym typeface="Open Sauce"/>
              </a:rPr>
              <a:t>Our solution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ED79ED6F-DB96-4CFA-83EE-31282F9C4B8E}"/>
              </a:ext>
            </a:extLst>
          </p:cNvPr>
          <p:cNvSpPr txBox="1"/>
          <p:nvPr/>
        </p:nvSpPr>
        <p:spPr>
          <a:xfrm>
            <a:off x="1028700" y="1943100"/>
            <a:ext cx="8684843" cy="600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en-US" sz="3600" spc="-72" dirty="0">
                <a:solidFill>
                  <a:srgbClr val="12100E"/>
                </a:solidFill>
                <a:latin typeface="Open Sauce"/>
                <a:ea typeface="Noto Serif Bold"/>
                <a:cs typeface="Noto Serif Bold"/>
                <a:sym typeface="Noto Serif Bold"/>
              </a:rPr>
              <a:t>Members</a:t>
            </a:r>
            <a:endParaRPr lang="en-US" sz="3600" u="none" strike="noStrike" spc="-72" dirty="0">
              <a:solidFill>
                <a:srgbClr val="12100E"/>
              </a:solidFill>
              <a:latin typeface="Open Sauce" panose="020B0604020202020204" charset="0"/>
              <a:ea typeface="Noto Serif Bold"/>
              <a:cs typeface="Noto Serif Bold"/>
              <a:sym typeface="Noto Serif Bold"/>
            </a:endParaRPr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D45F244F-0069-4581-188B-BC725029A7A2}"/>
              </a:ext>
            </a:extLst>
          </p:cNvPr>
          <p:cNvSpPr/>
          <p:nvPr/>
        </p:nvSpPr>
        <p:spPr>
          <a:xfrm rot="5400000">
            <a:off x="724743" y="3235668"/>
            <a:ext cx="660516" cy="660516"/>
          </a:xfrm>
          <a:custGeom>
            <a:avLst/>
            <a:gdLst/>
            <a:ahLst/>
            <a:cxnLst/>
            <a:rect l="l" t="t" r="r" b="b"/>
            <a:pathLst>
              <a:path w="660516" h="660516">
                <a:moveTo>
                  <a:pt x="0" y="0"/>
                </a:moveTo>
                <a:lnTo>
                  <a:pt x="660516" y="0"/>
                </a:lnTo>
                <a:lnTo>
                  <a:pt x="660516" y="660516"/>
                </a:lnTo>
                <a:lnTo>
                  <a:pt x="0" y="660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DDB7C7F7-B776-3D2C-58DA-51A0B8F035F4}"/>
              </a:ext>
            </a:extLst>
          </p:cNvPr>
          <p:cNvSpPr/>
          <p:nvPr/>
        </p:nvSpPr>
        <p:spPr>
          <a:xfrm rot="5400000">
            <a:off x="664869" y="4863675"/>
            <a:ext cx="660516" cy="660516"/>
          </a:xfrm>
          <a:custGeom>
            <a:avLst/>
            <a:gdLst/>
            <a:ahLst/>
            <a:cxnLst/>
            <a:rect l="l" t="t" r="r" b="b"/>
            <a:pathLst>
              <a:path w="660516" h="660516">
                <a:moveTo>
                  <a:pt x="0" y="0"/>
                </a:moveTo>
                <a:lnTo>
                  <a:pt x="660516" y="0"/>
                </a:lnTo>
                <a:lnTo>
                  <a:pt x="660516" y="660516"/>
                </a:lnTo>
                <a:lnTo>
                  <a:pt x="0" y="660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14" name="Freeform 4">
            <a:extLst>
              <a:ext uri="{FF2B5EF4-FFF2-40B4-BE49-F238E27FC236}">
                <a16:creationId xmlns:a16="http://schemas.microsoft.com/office/drawing/2014/main" id="{565D558B-0BEB-43CB-8C04-E52607E9F0E6}"/>
              </a:ext>
            </a:extLst>
          </p:cNvPr>
          <p:cNvSpPr/>
          <p:nvPr/>
        </p:nvSpPr>
        <p:spPr>
          <a:xfrm rot="5400000">
            <a:off x="664869" y="6593498"/>
            <a:ext cx="660516" cy="660516"/>
          </a:xfrm>
          <a:custGeom>
            <a:avLst/>
            <a:gdLst/>
            <a:ahLst/>
            <a:cxnLst/>
            <a:rect l="l" t="t" r="r" b="b"/>
            <a:pathLst>
              <a:path w="660516" h="660516">
                <a:moveTo>
                  <a:pt x="0" y="0"/>
                </a:moveTo>
                <a:lnTo>
                  <a:pt x="660516" y="0"/>
                </a:lnTo>
                <a:lnTo>
                  <a:pt x="660516" y="660516"/>
                </a:lnTo>
                <a:lnTo>
                  <a:pt x="0" y="660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C7BE5E39-4A65-350F-E713-50C155FB1099}"/>
              </a:ext>
            </a:extLst>
          </p:cNvPr>
          <p:cNvSpPr txBox="1"/>
          <p:nvPr/>
        </p:nvSpPr>
        <p:spPr>
          <a:xfrm>
            <a:off x="1513414" y="3182446"/>
            <a:ext cx="6941398" cy="941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en-US" sz="2000" dirty="0">
                <a:latin typeface="Open Sauce" panose="020B0604020202020204" charset="0"/>
              </a:rPr>
              <a:t>Centralized overview of all members with contact and address details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B9040E-582D-ECFD-F365-AED4387E124E}"/>
              </a:ext>
            </a:extLst>
          </p:cNvPr>
          <p:cNvSpPr txBox="1"/>
          <p:nvPr/>
        </p:nvSpPr>
        <p:spPr>
          <a:xfrm>
            <a:off x="1355682" y="4993878"/>
            <a:ext cx="7170914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dirty="0">
                <a:latin typeface="Open Sauce"/>
              </a:rPr>
              <a:t>Clear visibility of each member’s latest payment status</a:t>
            </a:r>
            <a:endParaRPr lang="nl-NL" sz="2000" dirty="0">
              <a:latin typeface="Open Sauce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710179-609C-BEE6-D922-5D581ED4013E}"/>
              </a:ext>
            </a:extLst>
          </p:cNvPr>
          <p:cNvSpPr txBox="1"/>
          <p:nvPr/>
        </p:nvSpPr>
        <p:spPr>
          <a:xfrm>
            <a:off x="1401587" y="6640482"/>
            <a:ext cx="6909657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dirty="0">
                <a:latin typeface="Open Sauce"/>
              </a:rPr>
              <a:t>Unpaid or missing payments are highlighted in red for quick attention</a:t>
            </a:r>
          </a:p>
        </p:txBody>
      </p:sp>
      <p:pic>
        <p:nvPicPr>
          <p:cNvPr id="5" name="Afbeelding 4" descr="Afbeelding met tekst, schermopname, nummer, Lettertype&#10;&#10;Door AI gegenereerde inhoud is mogelijk onjuist.">
            <a:extLst>
              <a:ext uri="{FF2B5EF4-FFF2-40B4-BE49-F238E27FC236}">
                <a16:creationId xmlns:a16="http://schemas.microsoft.com/office/drawing/2014/main" id="{E4A4CD44-CA97-9610-F66E-BE74E761C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2819" y="2932618"/>
            <a:ext cx="9965181" cy="4628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648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EFAE5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CA119F-C8F8-5038-8E39-28AEAAEB9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999B03AD-F939-8252-BF19-A225BAE1F423}"/>
              </a:ext>
            </a:extLst>
          </p:cNvPr>
          <p:cNvSpPr/>
          <p:nvPr/>
        </p:nvSpPr>
        <p:spPr>
          <a:xfrm>
            <a:off x="664869" y="1028700"/>
            <a:ext cx="0" cy="639585"/>
          </a:xfrm>
          <a:prstGeom prst="line">
            <a:avLst/>
          </a:prstGeom>
          <a:ln w="114300" cap="flat">
            <a:solidFill>
              <a:srgbClr val="FE82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nl-BE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3C884DD-3AA1-FAF7-F24D-B789E8852F7C}"/>
              </a:ext>
            </a:extLst>
          </p:cNvPr>
          <p:cNvSpPr txBox="1"/>
          <p:nvPr/>
        </p:nvSpPr>
        <p:spPr>
          <a:xfrm>
            <a:off x="13899759" y="8695111"/>
            <a:ext cx="3359541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100" dirty="0">
                <a:solidFill>
                  <a:srgbClr val="FE8213"/>
                </a:solidFill>
                <a:latin typeface="Open Sauce"/>
                <a:ea typeface="Open Sauce"/>
                <a:cs typeface="Open Sauce"/>
                <a:sym typeface="Open Sauce"/>
              </a:rPr>
              <a:t>9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01AB6384-9709-5EB7-F3FE-61B21D9F3543}"/>
              </a:ext>
            </a:extLst>
          </p:cNvPr>
          <p:cNvSpPr txBox="1"/>
          <p:nvPr/>
        </p:nvSpPr>
        <p:spPr>
          <a:xfrm>
            <a:off x="1028700" y="1134498"/>
            <a:ext cx="10034500" cy="44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4000" b="1" u="none" strike="noStrike" spc="240" dirty="0">
                <a:solidFill>
                  <a:srgbClr val="12100E"/>
                </a:solidFill>
                <a:latin typeface="Open Sauce"/>
                <a:ea typeface="Open Sauce"/>
                <a:cs typeface="Open Sauce"/>
                <a:sym typeface="Open Sauce"/>
              </a:rPr>
              <a:t>Our solution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0C27F633-8383-A193-7B41-C588288F7DD9}"/>
              </a:ext>
            </a:extLst>
          </p:cNvPr>
          <p:cNvSpPr txBox="1"/>
          <p:nvPr/>
        </p:nvSpPr>
        <p:spPr>
          <a:xfrm>
            <a:off x="1028700" y="1943100"/>
            <a:ext cx="8684843" cy="600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en-US" sz="3600" u="none" strike="noStrike" spc="-72" dirty="0">
                <a:solidFill>
                  <a:srgbClr val="12100E"/>
                </a:solidFill>
                <a:latin typeface="Open Sauce" panose="020B0604020202020204" charset="0"/>
                <a:ea typeface="Noto Serif Bold"/>
                <a:cs typeface="Noto Serif Bold"/>
                <a:sym typeface="Noto Serif Bold"/>
              </a:rPr>
              <a:t>Rentals</a:t>
            </a:r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111812A1-A733-C1D9-692E-D62943531DBC}"/>
              </a:ext>
            </a:extLst>
          </p:cNvPr>
          <p:cNvSpPr/>
          <p:nvPr/>
        </p:nvSpPr>
        <p:spPr>
          <a:xfrm rot="5400000">
            <a:off x="739582" y="3198846"/>
            <a:ext cx="660516" cy="660516"/>
          </a:xfrm>
          <a:custGeom>
            <a:avLst/>
            <a:gdLst/>
            <a:ahLst/>
            <a:cxnLst/>
            <a:rect l="l" t="t" r="r" b="b"/>
            <a:pathLst>
              <a:path w="660516" h="660516">
                <a:moveTo>
                  <a:pt x="0" y="0"/>
                </a:moveTo>
                <a:lnTo>
                  <a:pt x="660516" y="0"/>
                </a:lnTo>
                <a:lnTo>
                  <a:pt x="660516" y="660516"/>
                </a:lnTo>
                <a:lnTo>
                  <a:pt x="0" y="660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A0D99D70-6C6A-F6D2-30B1-4D63F1FF47D6}"/>
              </a:ext>
            </a:extLst>
          </p:cNvPr>
          <p:cNvSpPr/>
          <p:nvPr/>
        </p:nvSpPr>
        <p:spPr>
          <a:xfrm rot="5400000">
            <a:off x="698442" y="4777776"/>
            <a:ext cx="660516" cy="660516"/>
          </a:xfrm>
          <a:custGeom>
            <a:avLst/>
            <a:gdLst/>
            <a:ahLst/>
            <a:cxnLst/>
            <a:rect l="l" t="t" r="r" b="b"/>
            <a:pathLst>
              <a:path w="660516" h="660516">
                <a:moveTo>
                  <a:pt x="0" y="0"/>
                </a:moveTo>
                <a:lnTo>
                  <a:pt x="660516" y="0"/>
                </a:lnTo>
                <a:lnTo>
                  <a:pt x="660516" y="660516"/>
                </a:lnTo>
                <a:lnTo>
                  <a:pt x="0" y="660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14" name="Freeform 4">
            <a:extLst>
              <a:ext uri="{FF2B5EF4-FFF2-40B4-BE49-F238E27FC236}">
                <a16:creationId xmlns:a16="http://schemas.microsoft.com/office/drawing/2014/main" id="{E5DB4F96-3D8E-5A3E-44F9-B006E304084B}"/>
              </a:ext>
            </a:extLst>
          </p:cNvPr>
          <p:cNvSpPr/>
          <p:nvPr/>
        </p:nvSpPr>
        <p:spPr>
          <a:xfrm rot="5400000">
            <a:off x="739582" y="6614605"/>
            <a:ext cx="660516" cy="660516"/>
          </a:xfrm>
          <a:custGeom>
            <a:avLst/>
            <a:gdLst/>
            <a:ahLst/>
            <a:cxnLst/>
            <a:rect l="l" t="t" r="r" b="b"/>
            <a:pathLst>
              <a:path w="660516" h="660516">
                <a:moveTo>
                  <a:pt x="0" y="0"/>
                </a:moveTo>
                <a:lnTo>
                  <a:pt x="660516" y="0"/>
                </a:lnTo>
                <a:lnTo>
                  <a:pt x="660516" y="660516"/>
                </a:lnTo>
                <a:lnTo>
                  <a:pt x="0" y="660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pic>
        <p:nvPicPr>
          <p:cNvPr id="4" name="Afbeelding 3" descr="Afbeelding met tekst, schermopname, nummer, Lettertype&#10;&#10;Door AI gegenereerde inhoud is mogelijk onjuist.">
            <a:extLst>
              <a:ext uri="{FF2B5EF4-FFF2-40B4-BE49-F238E27FC236}">
                <a16:creationId xmlns:a16="http://schemas.microsoft.com/office/drawing/2014/main" id="{3D8916E4-AB3F-9BE4-D74C-CEDA60D0F5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3638" y="1943100"/>
            <a:ext cx="10034500" cy="5955172"/>
          </a:xfrm>
          <a:prstGeom prst="rect">
            <a:avLst/>
          </a:prstGeom>
        </p:spPr>
      </p:pic>
      <p:sp>
        <p:nvSpPr>
          <p:cNvPr id="15" name="Tekstvak 14">
            <a:extLst>
              <a:ext uri="{FF2B5EF4-FFF2-40B4-BE49-F238E27FC236}">
                <a16:creationId xmlns:a16="http://schemas.microsoft.com/office/drawing/2014/main" id="{F6D84F34-10A2-25A7-AF0A-3A2EAD5984D7}"/>
              </a:ext>
            </a:extLst>
          </p:cNvPr>
          <p:cNvSpPr txBox="1"/>
          <p:nvPr/>
        </p:nvSpPr>
        <p:spPr>
          <a:xfrm>
            <a:off x="1675827" y="2967074"/>
            <a:ext cx="640079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sz="2000" err="1">
                <a:latin typeface="Open Sauce"/>
              </a:rPr>
              <a:t>Provides</a:t>
            </a:r>
            <a:r>
              <a:rPr lang="nl-NL" sz="2000">
                <a:latin typeface="Open Sauce"/>
              </a:rPr>
              <a:t> a </a:t>
            </a:r>
            <a:r>
              <a:rPr lang="nl-NL" sz="2000" err="1">
                <a:latin typeface="Open Sauce"/>
              </a:rPr>
              <a:t>clear</a:t>
            </a:r>
            <a:r>
              <a:rPr lang="nl-NL" sz="2000">
                <a:latin typeface="Open Sauce"/>
              </a:rPr>
              <a:t> </a:t>
            </a:r>
            <a:r>
              <a:rPr lang="nl-NL" sz="2000" err="1">
                <a:latin typeface="Open Sauce"/>
              </a:rPr>
              <a:t>overview</a:t>
            </a:r>
            <a:r>
              <a:rPr lang="nl-NL" sz="2000">
                <a:latin typeface="Open Sauce"/>
              </a:rPr>
              <a:t> of </a:t>
            </a:r>
            <a:r>
              <a:rPr lang="nl-NL" sz="2000" err="1">
                <a:latin typeface="Open Sauce"/>
              </a:rPr>
              <a:t>all</a:t>
            </a:r>
            <a:r>
              <a:rPr lang="nl-NL" sz="2000">
                <a:latin typeface="Open Sauce"/>
              </a:rPr>
              <a:t> </a:t>
            </a:r>
            <a:r>
              <a:rPr lang="nl-NL" sz="2000" err="1">
                <a:latin typeface="Open Sauce"/>
              </a:rPr>
              <a:t>active</a:t>
            </a:r>
            <a:r>
              <a:rPr lang="nl-NL" sz="2000">
                <a:latin typeface="Open Sauce"/>
              </a:rPr>
              <a:t> </a:t>
            </a:r>
            <a:r>
              <a:rPr lang="nl-NL" sz="2000" err="1">
                <a:latin typeface="Open Sauce"/>
              </a:rPr>
              <a:t>rentals</a:t>
            </a:r>
            <a:r>
              <a:rPr lang="nl-NL" sz="2000">
                <a:latin typeface="Open Sauce"/>
              </a:rPr>
              <a:t>, </a:t>
            </a:r>
            <a:r>
              <a:rPr lang="nl-NL" sz="2000" err="1">
                <a:latin typeface="Open Sauce"/>
              </a:rPr>
              <a:t>including</a:t>
            </a:r>
            <a:r>
              <a:rPr lang="nl-NL" sz="2000">
                <a:latin typeface="Open Sauce"/>
              </a:rPr>
              <a:t> bike, </a:t>
            </a:r>
            <a:r>
              <a:rPr lang="nl-NL" sz="2000" err="1">
                <a:latin typeface="Open Sauce"/>
              </a:rPr>
              <a:t>child</a:t>
            </a:r>
            <a:r>
              <a:rPr lang="nl-NL" sz="2000">
                <a:latin typeface="Open Sauce"/>
              </a:rPr>
              <a:t>, </a:t>
            </a:r>
            <a:r>
              <a:rPr lang="nl-NL" sz="2000" err="1">
                <a:latin typeface="Open Sauce"/>
              </a:rPr>
              <a:t>parent</a:t>
            </a:r>
            <a:r>
              <a:rPr lang="nl-NL" sz="2000">
                <a:latin typeface="Open Sauce"/>
              </a:rPr>
              <a:t>, </a:t>
            </a:r>
            <a:r>
              <a:rPr lang="nl-NL" sz="2000" err="1">
                <a:latin typeface="Open Sauce"/>
              </a:rPr>
              <a:t>and</a:t>
            </a:r>
            <a:r>
              <a:rPr lang="nl-NL" sz="2000">
                <a:latin typeface="Open Sauce"/>
              </a:rPr>
              <a:t> </a:t>
            </a:r>
            <a:r>
              <a:rPr lang="nl-NL" sz="2000" err="1">
                <a:latin typeface="Open Sauce"/>
              </a:rPr>
              <a:t>rental</a:t>
            </a:r>
            <a:r>
              <a:rPr lang="nl-NL" sz="2000">
                <a:latin typeface="Open Sauce"/>
              </a:rPr>
              <a:t> </a:t>
            </a:r>
            <a:r>
              <a:rPr lang="nl-NL" sz="2000" err="1">
                <a:latin typeface="Open Sauce"/>
              </a:rPr>
              <a:t>period</a:t>
            </a:r>
            <a:endParaRPr lang="nl-NL" sz="2000">
              <a:latin typeface="Open Sauce"/>
            </a:endParaRP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39FF0942-4FAC-7277-7C8B-6EEF9BB0108F}"/>
              </a:ext>
            </a:extLst>
          </p:cNvPr>
          <p:cNvSpPr txBox="1"/>
          <p:nvPr/>
        </p:nvSpPr>
        <p:spPr>
          <a:xfrm>
            <a:off x="1675827" y="4777776"/>
            <a:ext cx="591094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sz="2000" dirty="0" err="1">
                <a:latin typeface="Open Sauce"/>
              </a:rPr>
              <a:t>Enables</a:t>
            </a:r>
            <a:r>
              <a:rPr lang="nl-NL" sz="2000" dirty="0">
                <a:latin typeface="Open Sauce"/>
              </a:rPr>
              <a:t> </a:t>
            </a:r>
            <a:r>
              <a:rPr lang="nl-NL" sz="2000" dirty="0" err="1">
                <a:latin typeface="Open Sauce"/>
              </a:rPr>
              <a:t>quick</a:t>
            </a:r>
            <a:r>
              <a:rPr lang="nl-NL" sz="2000" dirty="0">
                <a:latin typeface="Open Sauce"/>
              </a:rPr>
              <a:t> filtering </a:t>
            </a:r>
            <a:r>
              <a:rPr lang="nl-NL" sz="2000" dirty="0" err="1">
                <a:latin typeface="Open Sauce"/>
              </a:rPr>
              <a:t>and</a:t>
            </a:r>
            <a:r>
              <a:rPr lang="nl-NL" sz="2000" dirty="0">
                <a:latin typeface="Open Sauce"/>
              </a:rPr>
              <a:t> </a:t>
            </a:r>
            <a:r>
              <a:rPr lang="nl-NL" sz="2000" dirty="0" err="1">
                <a:latin typeface="Open Sauce"/>
              </a:rPr>
              <a:t>searching</a:t>
            </a:r>
            <a:r>
              <a:rPr lang="nl-NL" sz="2000" dirty="0">
                <a:latin typeface="Open Sauce"/>
              </a:rPr>
              <a:t> </a:t>
            </a:r>
            <a:r>
              <a:rPr lang="nl-NL" sz="2000" dirty="0" err="1">
                <a:latin typeface="Open Sauce"/>
              </a:rPr>
              <a:t>by</a:t>
            </a:r>
            <a:r>
              <a:rPr lang="nl-NL" sz="2000" dirty="0">
                <a:latin typeface="Open Sauce"/>
              </a:rPr>
              <a:t> status, bike type, or </a:t>
            </a:r>
            <a:r>
              <a:rPr lang="nl-NL" sz="2000" dirty="0" err="1">
                <a:latin typeface="Open Sauce"/>
              </a:rPr>
              <a:t>parent</a:t>
            </a:r>
            <a:r>
              <a:rPr lang="nl-NL" sz="2000" dirty="0">
                <a:latin typeface="Open Sauce"/>
              </a:rPr>
              <a:t>/</a:t>
            </a:r>
            <a:r>
              <a:rPr lang="nl-NL" sz="2000" dirty="0" err="1">
                <a:latin typeface="Open Sauce"/>
              </a:rPr>
              <a:t>child</a:t>
            </a:r>
            <a:r>
              <a:rPr lang="nl-NL" sz="2000" dirty="0">
                <a:latin typeface="Open Sauce"/>
              </a:rPr>
              <a:t> name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C64FCF28-2C4E-05CF-5E7E-7FE2203CB11F}"/>
              </a:ext>
            </a:extLst>
          </p:cNvPr>
          <p:cNvSpPr txBox="1"/>
          <p:nvPr/>
        </p:nvSpPr>
        <p:spPr>
          <a:xfrm>
            <a:off x="1654575" y="6567235"/>
            <a:ext cx="564968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sz="2000" err="1">
                <a:latin typeface="Open Sauce"/>
              </a:rPr>
              <a:t>Simplifies</a:t>
            </a:r>
            <a:r>
              <a:rPr lang="nl-NL" sz="2000">
                <a:latin typeface="Open Sauce"/>
              </a:rPr>
              <a:t> </a:t>
            </a:r>
            <a:r>
              <a:rPr lang="nl-NL" sz="2000" err="1">
                <a:latin typeface="Open Sauce"/>
              </a:rPr>
              <a:t>rental</a:t>
            </a:r>
            <a:r>
              <a:rPr lang="nl-NL" sz="2000">
                <a:latin typeface="Open Sauce"/>
              </a:rPr>
              <a:t> management </a:t>
            </a:r>
            <a:r>
              <a:rPr lang="nl-NL" sz="2000" err="1">
                <a:latin typeface="Open Sauce"/>
              </a:rPr>
              <a:t>with</a:t>
            </a:r>
            <a:r>
              <a:rPr lang="nl-NL" sz="2000">
                <a:latin typeface="Open Sauce"/>
              </a:rPr>
              <a:t> </a:t>
            </a:r>
            <a:r>
              <a:rPr lang="nl-NL" sz="2000" err="1">
                <a:latin typeface="Open Sauce"/>
              </a:rPr>
              <a:t>clear</a:t>
            </a:r>
            <a:r>
              <a:rPr lang="nl-NL" sz="2000">
                <a:latin typeface="Open Sauce"/>
              </a:rPr>
              <a:t> status indicators </a:t>
            </a:r>
            <a:r>
              <a:rPr lang="nl-NL" sz="2000" err="1">
                <a:latin typeface="Open Sauce"/>
              </a:rPr>
              <a:t>and</a:t>
            </a:r>
            <a:r>
              <a:rPr lang="nl-NL" sz="2000">
                <a:latin typeface="Open Sauce"/>
              </a:rPr>
              <a:t> direct action buttons</a:t>
            </a:r>
          </a:p>
        </p:txBody>
      </p:sp>
    </p:spTree>
    <p:extLst>
      <p:ext uri="{BB962C8B-B14F-4D97-AF65-F5344CB8AC3E}">
        <p14:creationId xmlns:p14="http://schemas.microsoft.com/office/powerpoint/2010/main" val="61003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EFAE5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DB62F9-2443-9B97-108A-C095B9FD7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E448C682-A535-6E3A-ACA1-1746C5C7E79D}"/>
              </a:ext>
            </a:extLst>
          </p:cNvPr>
          <p:cNvSpPr/>
          <p:nvPr/>
        </p:nvSpPr>
        <p:spPr>
          <a:xfrm>
            <a:off x="664869" y="1028700"/>
            <a:ext cx="0" cy="639585"/>
          </a:xfrm>
          <a:prstGeom prst="line">
            <a:avLst/>
          </a:prstGeom>
          <a:ln w="114300" cap="flat">
            <a:solidFill>
              <a:srgbClr val="FE82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nl-BE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E9B4631-A44A-9B2D-45AD-85F513135C1D}"/>
              </a:ext>
            </a:extLst>
          </p:cNvPr>
          <p:cNvSpPr txBox="1"/>
          <p:nvPr/>
        </p:nvSpPr>
        <p:spPr>
          <a:xfrm>
            <a:off x="13899759" y="8695111"/>
            <a:ext cx="3359541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100" dirty="0">
                <a:solidFill>
                  <a:srgbClr val="FE8213"/>
                </a:solidFill>
                <a:latin typeface="Open Sauce"/>
                <a:ea typeface="Open Sauce"/>
                <a:cs typeface="Open Sauce"/>
                <a:sym typeface="Open Sauce"/>
              </a:rPr>
              <a:t>10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998A0A26-565E-E566-BDCF-F4E3068A9D58}"/>
              </a:ext>
            </a:extLst>
          </p:cNvPr>
          <p:cNvSpPr txBox="1"/>
          <p:nvPr/>
        </p:nvSpPr>
        <p:spPr>
          <a:xfrm>
            <a:off x="1028700" y="1134498"/>
            <a:ext cx="10034500" cy="44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4000" b="1" u="none" strike="noStrike" spc="240" dirty="0">
                <a:solidFill>
                  <a:srgbClr val="12100E"/>
                </a:solidFill>
                <a:latin typeface="Open Sauce"/>
                <a:ea typeface="Open Sauce"/>
                <a:cs typeface="Open Sauce"/>
                <a:sym typeface="Open Sauce"/>
              </a:rPr>
              <a:t>Our solution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F3136A80-736C-71D1-05E9-17B0D8CD1485}"/>
              </a:ext>
            </a:extLst>
          </p:cNvPr>
          <p:cNvSpPr txBox="1"/>
          <p:nvPr/>
        </p:nvSpPr>
        <p:spPr>
          <a:xfrm>
            <a:off x="1028700" y="1943100"/>
            <a:ext cx="8684843" cy="600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en-US" sz="3600" u="none" strike="noStrike" spc="-72" dirty="0">
                <a:solidFill>
                  <a:srgbClr val="12100E"/>
                </a:solidFill>
                <a:latin typeface="Open Sauce" panose="020B0604020202020204" charset="0"/>
                <a:ea typeface="Noto Serif Bold"/>
                <a:cs typeface="Noto Serif Bold"/>
                <a:sym typeface="Noto Serif Bold"/>
              </a:rPr>
              <a:t>Payments</a:t>
            </a:r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2B550CB3-63EA-408B-11FD-1892669EB959}"/>
              </a:ext>
            </a:extLst>
          </p:cNvPr>
          <p:cNvSpPr/>
          <p:nvPr/>
        </p:nvSpPr>
        <p:spPr>
          <a:xfrm rot="5400000">
            <a:off x="698442" y="3166539"/>
            <a:ext cx="660516" cy="660516"/>
          </a:xfrm>
          <a:custGeom>
            <a:avLst/>
            <a:gdLst/>
            <a:ahLst/>
            <a:cxnLst/>
            <a:rect l="l" t="t" r="r" b="b"/>
            <a:pathLst>
              <a:path w="660516" h="660516">
                <a:moveTo>
                  <a:pt x="0" y="0"/>
                </a:moveTo>
                <a:lnTo>
                  <a:pt x="660516" y="0"/>
                </a:lnTo>
                <a:lnTo>
                  <a:pt x="660516" y="660516"/>
                </a:lnTo>
                <a:lnTo>
                  <a:pt x="0" y="660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77762297-F1D2-6BBC-E2C4-F536A0215549}"/>
              </a:ext>
            </a:extLst>
          </p:cNvPr>
          <p:cNvSpPr/>
          <p:nvPr/>
        </p:nvSpPr>
        <p:spPr>
          <a:xfrm rot="5400000">
            <a:off x="698442" y="4988328"/>
            <a:ext cx="660516" cy="660516"/>
          </a:xfrm>
          <a:custGeom>
            <a:avLst/>
            <a:gdLst/>
            <a:ahLst/>
            <a:cxnLst/>
            <a:rect l="l" t="t" r="r" b="b"/>
            <a:pathLst>
              <a:path w="660516" h="660516">
                <a:moveTo>
                  <a:pt x="0" y="0"/>
                </a:moveTo>
                <a:lnTo>
                  <a:pt x="660516" y="0"/>
                </a:lnTo>
                <a:lnTo>
                  <a:pt x="660516" y="660516"/>
                </a:lnTo>
                <a:lnTo>
                  <a:pt x="0" y="660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14" name="Freeform 4">
            <a:extLst>
              <a:ext uri="{FF2B5EF4-FFF2-40B4-BE49-F238E27FC236}">
                <a16:creationId xmlns:a16="http://schemas.microsoft.com/office/drawing/2014/main" id="{427F4B24-978F-3A5C-A773-7ED9B80D55DB}"/>
              </a:ext>
            </a:extLst>
          </p:cNvPr>
          <p:cNvSpPr/>
          <p:nvPr/>
        </p:nvSpPr>
        <p:spPr>
          <a:xfrm rot="5400000">
            <a:off x="694463" y="6795078"/>
            <a:ext cx="660516" cy="660516"/>
          </a:xfrm>
          <a:custGeom>
            <a:avLst/>
            <a:gdLst/>
            <a:ahLst/>
            <a:cxnLst/>
            <a:rect l="l" t="t" r="r" b="b"/>
            <a:pathLst>
              <a:path w="660516" h="660516">
                <a:moveTo>
                  <a:pt x="0" y="0"/>
                </a:moveTo>
                <a:lnTo>
                  <a:pt x="660516" y="0"/>
                </a:lnTo>
                <a:lnTo>
                  <a:pt x="660516" y="660516"/>
                </a:lnTo>
                <a:lnTo>
                  <a:pt x="0" y="660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pic>
        <p:nvPicPr>
          <p:cNvPr id="2" name="Afbeelding 1" descr="Afbeelding met tekst, schermopname, software, Computerpictogram&#10;&#10;Door AI gegenereerde inhoud is mogelijk onjuist.">
            <a:extLst>
              <a:ext uri="{FF2B5EF4-FFF2-40B4-BE49-F238E27FC236}">
                <a16:creationId xmlns:a16="http://schemas.microsoft.com/office/drawing/2014/main" id="{328247EA-6114-55A1-C81A-0FCE81475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1808" y="2279198"/>
            <a:ext cx="10296956" cy="5334998"/>
          </a:xfrm>
          <a:prstGeom prst="rect">
            <a:avLst/>
          </a:prstGeom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081189FB-AA3C-7A18-1410-3F412FD00B35}"/>
              </a:ext>
            </a:extLst>
          </p:cNvPr>
          <p:cNvSpPr txBox="1"/>
          <p:nvPr/>
        </p:nvSpPr>
        <p:spPr>
          <a:xfrm>
            <a:off x="1560237" y="3136373"/>
            <a:ext cx="604157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sz="2000">
                <a:latin typeface="Open Sauce"/>
              </a:rPr>
              <a:t>Displays a </a:t>
            </a:r>
            <a:r>
              <a:rPr lang="nl-NL" sz="2000" err="1">
                <a:latin typeface="Open Sauce"/>
              </a:rPr>
              <a:t>clear</a:t>
            </a:r>
            <a:r>
              <a:rPr lang="nl-NL" sz="2000">
                <a:latin typeface="Open Sauce"/>
              </a:rPr>
              <a:t> financial </a:t>
            </a:r>
            <a:r>
              <a:rPr lang="nl-NL" sz="2000" err="1">
                <a:latin typeface="Open Sauce"/>
              </a:rPr>
              <a:t>overview</a:t>
            </a:r>
            <a:r>
              <a:rPr lang="nl-NL" sz="2000">
                <a:latin typeface="Open Sauce"/>
              </a:rPr>
              <a:t> </a:t>
            </a:r>
            <a:r>
              <a:rPr lang="nl-NL" sz="2000" err="1">
                <a:latin typeface="Open Sauce"/>
              </a:rPr>
              <a:t>with</a:t>
            </a:r>
            <a:r>
              <a:rPr lang="nl-NL" sz="2000">
                <a:latin typeface="Open Sauce"/>
              </a:rPr>
              <a:t> </a:t>
            </a:r>
            <a:r>
              <a:rPr lang="nl-NL" sz="2000" err="1">
                <a:latin typeface="Open Sauce"/>
              </a:rPr>
              <a:t>totals</a:t>
            </a:r>
            <a:r>
              <a:rPr lang="nl-NL" sz="2000">
                <a:latin typeface="Open Sauce"/>
              </a:rPr>
              <a:t> per </a:t>
            </a:r>
            <a:r>
              <a:rPr lang="nl-NL" sz="2000" err="1">
                <a:latin typeface="Open Sauce"/>
              </a:rPr>
              <a:t>payment</a:t>
            </a:r>
            <a:r>
              <a:rPr lang="nl-NL" sz="2000">
                <a:latin typeface="Open Sauce"/>
              </a:rPr>
              <a:t> </a:t>
            </a:r>
            <a:r>
              <a:rPr lang="nl-NL" sz="2000" err="1">
                <a:latin typeface="Open Sauce"/>
              </a:rPr>
              <a:t>method</a:t>
            </a:r>
            <a:r>
              <a:rPr lang="nl-NL" sz="2000">
                <a:latin typeface="Open Sauce"/>
              </a:rPr>
              <a:t> </a:t>
            </a:r>
            <a:r>
              <a:rPr lang="nl-NL" sz="2000" err="1">
                <a:latin typeface="Open Sauce"/>
              </a:rPr>
              <a:t>and</a:t>
            </a:r>
            <a:r>
              <a:rPr lang="nl-NL" sz="2000">
                <a:latin typeface="Open Sauce"/>
              </a:rPr>
              <a:t> overall </a:t>
            </a:r>
            <a:r>
              <a:rPr lang="nl-NL" sz="2000" err="1">
                <a:latin typeface="Open Sauce"/>
              </a:rPr>
              <a:t>revenue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C6378E04-18D5-6855-58E3-8A07CA154720}"/>
              </a:ext>
            </a:extLst>
          </p:cNvPr>
          <p:cNvSpPr txBox="1"/>
          <p:nvPr/>
        </p:nvSpPr>
        <p:spPr>
          <a:xfrm>
            <a:off x="1562816" y="4946697"/>
            <a:ext cx="547007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sz="2000" err="1">
                <a:latin typeface="Open Sauce"/>
              </a:rPr>
              <a:t>Allows</a:t>
            </a:r>
            <a:r>
              <a:rPr lang="nl-NL" sz="2000">
                <a:latin typeface="Open Sauce"/>
              </a:rPr>
              <a:t> </a:t>
            </a:r>
            <a:r>
              <a:rPr lang="nl-NL" sz="2000" err="1">
                <a:latin typeface="Open Sauce"/>
              </a:rPr>
              <a:t>fast</a:t>
            </a:r>
            <a:r>
              <a:rPr lang="nl-NL" sz="2000">
                <a:latin typeface="Open Sauce"/>
              </a:rPr>
              <a:t> filtering </a:t>
            </a:r>
            <a:r>
              <a:rPr lang="nl-NL" sz="2000" err="1">
                <a:latin typeface="Open Sauce"/>
              </a:rPr>
              <a:t>by</a:t>
            </a:r>
            <a:r>
              <a:rPr lang="nl-NL" sz="2000">
                <a:latin typeface="Open Sauce"/>
              </a:rPr>
              <a:t> </a:t>
            </a:r>
            <a:r>
              <a:rPr lang="nl-NL" sz="2000" err="1">
                <a:latin typeface="Open Sauce"/>
              </a:rPr>
              <a:t>payment</a:t>
            </a:r>
            <a:r>
              <a:rPr lang="nl-NL" sz="2000">
                <a:latin typeface="Open Sauce"/>
              </a:rPr>
              <a:t> </a:t>
            </a:r>
            <a:r>
              <a:rPr lang="nl-NL" sz="2000" err="1">
                <a:latin typeface="Open Sauce"/>
              </a:rPr>
              <a:t>method</a:t>
            </a:r>
            <a:r>
              <a:rPr lang="nl-NL" sz="2000">
                <a:latin typeface="Open Sauce"/>
              </a:rPr>
              <a:t>, time </a:t>
            </a:r>
            <a:r>
              <a:rPr lang="nl-NL" sz="2000" err="1">
                <a:latin typeface="Open Sauce"/>
              </a:rPr>
              <a:t>period</a:t>
            </a:r>
            <a:r>
              <a:rPr lang="nl-NL" sz="2000">
                <a:latin typeface="Open Sauce"/>
              </a:rPr>
              <a:t>, or member name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E36A755C-8D4A-FA43-110F-768A25425F86}"/>
              </a:ext>
            </a:extLst>
          </p:cNvPr>
          <p:cNvSpPr txBox="1"/>
          <p:nvPr/>
        </p:nvSpPr>
        <p:spPr>
          <a:xfrm>
            <a:off x="1573989" y="6927611"/>
            <a:ext cx="545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sz="2000">
                <a:latin typeface="Open Sauce"/>
              </a:rPr>
              <a:t>Easy </a:t>
            </a:r>
            <a:r>
              <a:rPr lang="nl-NL" sz="2000" err="1">
                <a:latin typeface="Open Sauce"/>
              </a:rPr>
              <a:t>visual</a:t>
            </a:r>
            <a:r>
              <a:rPr lang="nl-NL" sz="2000">
                <a:latin typeface="Open Sauce"/>
              </a:rPr>
              <a:t> </a:t>
            </a:r>
            <a:r>
              <a:rPr lang="nl-NL" sz="2000" err="1">
                <a:latin typeface="Open Sauce"/>
              </a:rPr>
              <a:t>confirmation</a:t>
            </a:r>
            <a:r>
              <a:rPr lang="nl-NL" sz="2000">
                <a:latin typeface="Open Sauce"/>
              </a:rPr>
              <a:t> of </a:t>
            </a:r>
            <a:r>
              <a:rPr lang="nl-NL" sz="2000" err="1">
                <a:latin typeface="Open Sauce"/>
              </a:rPr>
              <a:t>payment</a:t>
            </a:r>
            <a:r>
              <a:rPr lang="nl-NL" sz="2000">
                <a:latin typeface="Open Sauce"/>
              </a:rPr>
              <a:t> status</a:t>
            </a:r>
          </a:p>
        </p:txBody>
      </p:sp>
    </p:spTree>
    <p:extLst>
      <p:ext uri="{BB962C8B-B14F-4D97-AF65-F5344CB8AC3E}">
        <p14:creationId xmlns:p14="http://schemas.microsoft.com/office/powerpoint/2010/main" val="830068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EFAE5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64869" y="1028700"/>
            <a:ext cx="0" cy="639585"/>
          </a:xfrm>
          <a:prstGeom prst="line">
            <a:avLst/>
          </a:prstGeom>
          <a:ln w="114300" cap="flat">
            <a:solidFill>
              <a:srgbClr val="FE82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nl-BE"/>
          </a:p>
        </p:txBody>
      </p:sp>
      <p:sp>
        <p:nvSpPr>
          <p:cNvPr id="4" name="TextBox 4"/>
          <p:cNvSpPr txBox="1"/>
          <p:nvPr/>
        </p:nvSpPr>
        <p:spPr>
          <a:xfrm>
            <a:off x="917786" y="1201033"/>
            <a:ext cx="10034500" cy="44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4000" b="1" spc="240" dirty="0">
                <a:solidFill>
                  <a:srgbClr val="12100E"/>
                </a:solidFill>
                <a:latin typeface="Open Sauce"/>
                <a:ea typeface="Open Sauce"/>
                <a:cs typeface="Open Sauce"/>
                <a:sym typeface="Open Sauce"/>
              </a:rPr>
              <a:t>Algorithm</a:t>
            </a:r>
            <a:endParaRPr lang="en-US" sz="4000" b="1" u="none" strike="noStrike" spc="240" dirty="0">
              <a:solidFill>
                <a:srgbClr val="12100E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3899759" y="8695111"/>
            <a:ext cx="3359541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100" dirty="0">
                <a:solidFill>
                  <a:srgbClr val="FE8213"/>
                </a:solidFill>
                <a:latin typeface="Open Sauce"/>
                <a:ea typeface="Open Sauce"/>
                <a:cs typeface="Open Sauce"/>
                <a:sym typeface="Open Sauce"/>
              </a:rPr>
              <a:t>11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10201" y="4979035"/>
            <a:ext cx="35409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spc="-55">
                <a:solidFill>
                  <a:srgbClr val="FFFD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784402" y="4979035"/>
            <a:ext cx="35409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spc="-55">
                <a:solidFill>
                  <a:srgbClr val="FFFD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51677" y="4979035"/>
            <a:ext cx="35409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spc="-55">
                <a:solidFill>
                  <a:srgbClr val="FFFD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580939" y="4979035"/>
            <a:ext cx="35409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spc="-55">
                <a:solidFill>
                  <a:srgbClr val="FFFD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418039" y="4979035"/>
            <a:ext cx="35409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spc="-55">
                <a:solidFill>
                  <a:srgbClr val="FFFD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  <p:pic>
        <p:nvPicPr>
          <p:cNvPr id="6" name="Afbeelding 5" descr="Afbeelding met tekst, schermopname, Lettertype&#10;&#10;Door AI gegenereerde inhoud is mogelijk onjuist.">
            <a:extLst>
              <a:ext uri="{FF2B5EF4-FFF2-40B4-BE49-F238E27FC236}">
                <a16:creationId xmlns:a16="http://schemas.microsoft.com/office/drawing/2014/main" id="{D43DCE99-EEB1-963A-270B-3B9BE4713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5761" y="3987031"/>
            <a:ext cx="8809263" cy="1251856"/>
          </a:xfrm>
          <a:prstGeom prst="rect">
            <a:avLst/>
          </a:prstGeom>
        </p:spPr>
      </p:pic>
      <p:sp>
        <p:nvSpPr>
          <p:cNvPr id="8" name="Freeform 4">
            <a:extLst>
              <a:ext uri="{FF2B5EF4-FFF2-40B4-BE49-F238E27FC236}">
                <a16:creationId xmlns:a16="http://schemas.microsoft.com/office/drawing/2014/main" id="{B407050E-7A54-6CAF-D379-F36BBCDFBE3C}"/>
              </a:ext>
            </a:extLst>
          </p:cNvPr>
          <p:cNvSpPr/>
          <p:nvPr/>
        </p:nvSpPr>
        <p:spPr>
          <a:xfrm rot="5400000">
            <a:off x="577570" y="3175098"/>
            <a:ext cx="660516" cy="660516"/>
          </a:xfrm>
          <a:custGeom>
            <a:avLst/>
            <a:gdLst/>
            <a:ahLst/>
            <a:cxnLst/>
            <a:rect l="l" t="t" r="r" b="b"/>
            <a:pathLst>
              <a:path w="660516" h="660516">
                <a:moveTo>
                  <a:pt x="0" y="0"/>
                </a:moveTo>
                <a:lnTo>
                  <a:pt x="660516" y="0"/>
                </a:lnTo>
                <a:lnTo>
                  <a:pt x="660516" y="660516"/>
                </a:lnTo>
                <a:lnTo>
                  <a:pt x="0" y="6605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2CD4D395-26C6-9EB2-E83C-1F4197E015B1}"/>
              </a:ext>
            </a:extLst>
          </p:cNvPr>
          <p:cNvSpPr/>
          <p:nvPr/>
        </p:nvSpPr>
        <p:spPr>
          <a:xfrm rot="5400000">
            <a:off x="573256" y="4641553"/>
            <a:ext cx="660516" cy="660516"/>
          </a:xfrm>
          <a:custGeom>
            <a:avLst/>
            <a:gdLst/>
            <a:ahLst/>
            <a:cxnLst/>
            <a:rect l="l" t="t" r="r" b="b"/>
            <a:pathLst>
              <a:path w="660516" h="660516">
                <a:moveTo>
                  <a:pt x="0" y="0"/>
                </a:moveTo>
                <a:lnTo>
                  <a:pt x="660516" y="0"/>
                </a:lnTo>
                <a:lnTo>
                  <a:pt x="660516" y="660516"/>
                </a:lnTo>
                <a:lnTo>
                  <a:pt x="0" y="6605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912B3209-1E70-FCCB-78C0-9E19E508E8EC}"/>
              </a:ext>
            </a:extLst>
          </p:cNvPr>
          <p:cNvSpPr/>
          <p:nvPr/>
        </p:nvSpPr>
        <p:spPr>
          <a:xfrm rot="5400000">
            <a:off x="573256" y="6129209"/>
            <a:ext cx="660516" cy="660516"/>
          </a:xfrm>
          <a:custGeom>
            <a:avLst/>
            <a:gdLst/>
            <a:ahLst/>
            <a:cxnLst/>
            <a:rect l="l" t="t" r="r" b="b"/>
            <a:pathLst>
              <a:path w="660516" h="660516">
                <a:moveTo>
                  <a:pt x="0" y="0"/>
                </a:moveTo>
                <a:lnTo>
                  <a:pt x="660516" y="0"/>
                </a:lnTo>
                <a:lnTo>
                  <a:pt x="660516" y="660516"/>
                </a:lnTo>
                <a:lnTo>
                  <a:pt x="0" y="6605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463DB0DA-B276-FB8C-11A3-5873DF458130}"/>
              </a:ext>
            </a:extLst>
          </p:cNvPr>
          <p:cNvSpPr txBox="1"/>
          <p:nvPr/>
        </p:nvSpPr>
        <p:spPr>
          <a:xfrm>
            <a:off x="1371600" y="4641553"/>
            <a:ext cx="563335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sz="2000" err="1">
                <a:latin typeface="Open Sauce"/>
              </a:rPr>
              <a:t>Calculates</a:t>
            </a:r>
            <a:r>
              <a:rPr lang="nl-NL" sz="2000">
                <a:latin typeface="Open Sauce"/>
              </a:rPr>
              <a:t> </a:t>
            </a:r>
            <a:r>
              <a:rPr lang="nl-NL" sz="2000" err="1">
                <a:latin typeface="Open Sauce"/>
              </a:rPr>
              <a:t>how</a:t>
            </a:r>
            <a:r>
              <a:rPr lang="nl-NL" sz="2000">
                <a:latin typeface="Open Sauce"/>
              </a:rPr>
              <a:t> </a:t>
            </a:r>
            <a:r>
              <a:rPr lang="nl-NL" sz="2000" err="1">
                <a:latin typeface="Open Sauce"/>
              </a:rPr>
              <a:t>many</a:t>
            </a:r>
            <a:r>
              <a:rPr lang="nl-NL" sz="2000">
                <a:latin typeface="Open Sauce"/>
              </a:rPr>
              <a:t> </a:t>
            </a:r>
            <a:r>
              <a:rPr lang="nl-NL" sz="2000" err="1">
                <a:latin typeface="Open Sauce"/>
              </a:rPr>
              <a:t>days</a:t>
            </a:r>
            <a:r>
              <a:rPr lang="nl-NL" sz="2000">
                <a:latin typeface="Open Sauce"/>
              </a:rPr>
              <a:t> </a:t>
            </a:r>
            <a:r>
              <a:rPr lang="nl-NL" sz="2000" err="1">
                <a:latin typeface="Open Sauce"/>
              </a:rPr>
              <a:t>remain</a:t>
            </a:r>
            <a:r>
              <a:rPr lang="nl-NL" sz="2000">
                <a:latin typeface="Open Sauce"/>
              </a:rPr>
              <a:t> </a:t>
            </a:r>
            <a:r>
              <a:rPr lang="nl-NL" sz="2000" err="1">
                <a:latin typeface="Open Sauce"/>
              </a:rPr>
              <a:t>until</a:t>
            </a:r>
            <a:r>
              <a:rPr lang="nl-NL" sz="2000">
                <a:latin typeface="Open Sauce"/>
              </a:rPr>
              <a:t> </a:t>
            </a:r>
            <a:r>
              <a:rPr lang="nl-NL" sz="2000" err="1">
                <a:latin typeface="Open Sauce"/>
              </a:rPr>
              <a:t>the</a:t>
            </a:r>
            <a:r>
              <a:rPr lang="nl-NL" sz="2000">
                <a:latin typeface="Open Sauce"/>
              </a:rPr>
              <a:t> </a:t>
            </a:r>
            <a:r>
              <a:rPr lang="nl-NL" sz="2000" err="1">
                <a:latin typeface="Open Sauce"/>
              </a:rPr>
              <a:t>rental</a:t>
            </a:r>
            <a:r>
              <a:rPr lang="nl-NL" sz="2000">
                <a:latin typeface="Open Sauce"/>
              </a:rPr>
              <a:t> </a:t>
            </a:r>
            <a:r>
              <a:rPr lang="nl-NL" sz="2000" err="1">
                <a:latin typeface="Open Sauce"/>
              </a:rPr>
              <a:t>ends</a:t>
            </a:r>
            <a:endParaRPr lang="nl-NL" sz="2000">
              <a:latin typeface="Open Sauce"/>
            </a:endParaRPr>
          </a:p>
        </p:txBody>
      </p:sp>
      <p:pic>
        <p:nvPicPr>
          <p:cNvPr id="15" name="Afbeelding 14" descr="Afbeelding met tekst, schermopname, Lettertype&#10;&#10;Door AI gegenereerde inhoud is mogelijk onjuist.">
            <a:extLst>
              <a:ext uri="{FF2B5EF4-FFF2-40B4-BE49-F238E27FC236}">
                <a16:creationId xmlns:a16="http://schemas.microsoft.com/office/drawing/2014/main" id="{BE28B0BC-F254-3B8B-33FB-26EE57B863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5761" y="5519620"/>
            <a:ext cx="5057775" cy="3943350"/>
          </a:xfrm>
          <a:prstGeom prst="rect">
            <a:avLst/>
          </a:prstGeom>
        </p:spPr>
      </p:pic>
      <p:sp>
        <p:nvSpPr>
          <p:cNvPr id="17" name="Tekstvak 16">
            <a:extLst>
              <a:ext uri="{FF2B5EF4-FFF2-40B4-BE49-F238E27FC236}">
                <a16:creationId xmlns:a16="http://schemas.microsoft.com/office/drawing/2014/main" id="{9291775F-0961-3BB8-9350-DB78EDA36A70}"/>
              </a:ext>
            </a:extLst>
          </p:cNvPr>
          <p:cNvSpPr txBox="1"/>
          <p:nvPr/>
        </p:nvSpPr>
        <p:spPr>
          <a:xfrm>
            <a:off x="1371600" y="6081839"/>
            <a:ext cx="553538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sz="2000" dirty="0">
                <a:latin typeface="Open Sauce"/>
              </a:rPr>
              <a:t>Filters </a:t>
            </a:r>
            <a:r>
              <a:rPr lang="nl-NL" sz="2000" dirty="0" err="1">
                <a:latin typeface="Open Sauce"/>
              </a:rPr>
              <a:t>and</a:t>
            </a:r>
            <a:r>
              <a:rPr lang="nl-NL" sz="2000" dirty="0">
                <a:latin typeface="Open Sauce"/>
              </a:rPr>
              <a:t> </a:t>
            </a:r>
            <a:r>
              <a:rPr lang="nl-NL" sz="2000" dirty="0" err="1">
                <a:latin typeface="Open Sauce"/>
              </a:rPr>
              <a:t>sorts</a:t>
            </a:r>
            <a:r>
              <a:rPr lang="nl-NL" sz="2000" dirty="0">
                <a:latin typeface="Open Sauce"/>
              </a:rPr>
              <a:t> </a:t>
            </a:r>
            <a:r>
              <a:rPr lang="nl-NL" sz="2000" dirty="0" err="1">
                <a:latin typeface="Open Sauce"/>
              </a:rPr>
              <a:t>rentals</a:t>
            </a:r>
            <a:r>
              <a:rPr lang="nl-NL" sz="2000" dirty="0">
                <a:latin typeface="Open Sauce"/>
              </a:rPr>
              <a:t> </a:t>
            </a:r>
            <a:r>
              <a:rPr lang="nl-NL" sz="2000" dirty="0" err="1">
                <a:latin typeface="Open Sauce"/>
              </a:rPr>
              <a:t>expiring</a:t>
            </a:r>
            <a:r>
              <a:rPr lang="nl-NL" sz="2000" dirty="0">
                <a:latin typeface="Open Sauce"/>
              </a:rPr>
              <a:t> </a:t>
            </a:r>
            <a:r>
              <a:rPr lang="nl-NL" sz="2000" dirty="0" err="1">
                <a:latin typeface="Open Sauce"/>
              </a:rPr>
              <a:t>within</a:t>
            </a:r>
            <a:r>
              <a:rPr lang="nl-NL" sz="2000" dirty="0">
                <a:latin typeface="Open Sauce"/>
              </a:rPr>
              <a:t> 30 </a:t>
            </a:r>
            <a:r>
              <a:rPr lang="nl-NL" sz="2000" dirty="0" err="1">
                <a:latin typeface="Open Sauce"/>
              </a:rPr>
              <a:t>days</a:t>
            </a:r>
            <a:endParaRPr lang="nl-NL" sz="2000" dirty="0">
              <a:latin typeface="Open Sauce"/>
            </a:endParaRPr>
          </a:p>
        </p:txBody>
      </p:sp>
      <p:pic>
        <p:nvPicPr>
          <p:cNvPr id="18" name="Afbeelding 17" descr="Afbeelding met tekst, Lettertype, schermopname, nummer&#10;&#10;Door AI gegenereerde inhoud is mogelijk onjuist.">
            <a:extLst>
              <a:ext uri="{FF2B5EF4-FFF2-40B4-BE49-F238E27FC236}">
                <a16:creationId xmlns:a16="http://schemas.microsoft.com/office/drawing/2014/main" id="{ECCF9356-0E80-A910-C1A8-BFC6F69D40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5761" y="2176984"/>
            <a:ext cx="5290457" cy="1240971"/>
          </a:xfrm>
          <a:prstGeom prst="rect">
            <a:avLst/>
          </a:prstGeom>
        </p:spPr>
      </p:pic>
      <p:sp>
        <p:nvSpPr>
          <p:cNvPr id="19" name="Tekstvak 18">
            <a:extLst>
              <a:ext uri="{FF2B5EF4-FFF2-40B4-BE49-F238E27FC236}">
                <a16:creationId xmlns:a16="http://schemas.microsoft.com/office/drawing/2014/main" id="{A423F104-4EA5-CA2E-5F16-78D55E3E7A63}"/>
              </a:ext>
            </a:extLst>
          </p:cNvPr>
          <p:cNvSpPr txBox="1"/>
          <p:nvPr/>
        </p:nvSpPr>
        <p:spPr>
          <a:xfrm>
            <a:off x="1371600" y="3151413"/>
            <a:ext cx="530678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sz="2000" dirty="0" err="1">
                <a:latin typeface="Open Sauce"/>
              </a:rPr>
              <a:t>Retrieves</a:t>
            </a:r>
            <a:r>
              <a:rPr lang="nl-NL" sz="2000" dirty="0">
                <a:latin typeface="Open Sauce"/>
              </a:rPr>
              <a:t> </a:t>
            </a:r>
            <a:r>
              <a:rPr lang="nl-NL" sz="2000" dirty="0" err="1">
                <a:latin typeface="Open Sauce"/>
              </a:rPr>
              <a:t>all</a:t>
            </a:r>
            <a:r>
              <a:rPr lang="nl-NL" sz="2000" dirty="0">
                <a:latin typeface="Open Sauce"/>
              </a:rPr>
              <a:t> </a:t>
            </a:r>
            <a:r>
              <a:rPr lang="nl-NL" sz="2000" dirty="0" err="1">
                <a:latin typeface="Open Sauce"/>
              </a:rPr>
              <a:t>active</a:t>
            </a:r>
            <a:r>
              <a:rPr lang="nl-NL" sz="2000" dirty="0">
                <a:latin typeface="Open Sauce"/>
              </a:rPr>
              <a:t> </a:t>
            </a:r>
            <a:r>
              <a:rPr lang="nl-NL" sz="2000" dirty="0" err="1">
                <a:latin typeface="Open Sauce"/>
              </a:rPr>
              <a:t>rentals</a:t>
            </a:r>
            <a:r>
              <a:rPr lang="nl-NL" sz="2000" dirty="0">
                <a:latin typeface="Open Sauce"/>
              </a:rPr>
              <a:t> </a:t>
            </a:r>
            <a:r>
              <a:rPr lang="nl-NL" sz="2000" dirty="0" err="1">
                <a:latin typeface="Open Sauce"/>
              </a:rPr>
              <a:t>from</a:t>
            </a:r>
            <a:r>
              <a:rPr lang="nl-NL" sz="2000" dirty="0">
                <a:latin typeface="Open Sauce"/>
              </a:rPr>
              <a:t> </a:t>
            </a:r>
            <a:r>
              <a:rPr lang="nl-NL" sz="2000" dirty="0" err="1">
                <a:latin typeface="Open Sauce"/>
              </a:rPr>
              <a:t>the</a:t>
            </a:r>
            <a:r>
              <a:rPr lang="nl-NL" sz="2000" dirty="0">
                <a:latin typeface="Open Sauce"/>
              </a:rPr>
              <a:t> database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5E1FC32A-4C9F-E8BA-1ADD-0DC7028CBD14}"/>
              </a:ext>
            </a:extLst>
          </p:cNvPr>
          <p:cNvSpPr txBox="1"/>
          <p:nvPr/>
        </p:nvSpPr>
        <p:spPr>
          <a:xfrm>
            <a:off x="1059514" y="1876966"/>
            <a:ext cx="8684843" cy="600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en-US" sz="3600" u="none" strike="noStrike" spc="-72" dirty="0">
                <a:solidFill>
                  <a:srgbClr val="12100E"/>
                </a:solidFill>
                <a:latin typeface="Open Sauce" panose="020B0604020202020204" charset="0"/>
                <a:ea typeface="Noto Serif Bold"/>
                <a:cs typeface="Noto Serif Bold"/>
                <a:sym typeface="Noto Serif Bold"/>
              </a:rPr>
              <a:t>Code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EFAE5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799966-8D03-CD4C-CC3E-BF7DB3EAB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52514F44-012A-B672-AE70-E4436C074100}"/>
              </a:ext>
            </a:extLst>
          </p:cNvPr>
          <p:cNvSpPr/>
          <p:nvPr/>
        </p:nvSpPr>
        <p:spPr>
          <a:xfrm>
            <a:off x="664869" y="1028700"/>
            <a:ext cx="0" cy="639585"/>
          </a:xfrm>
          <a:prstGeom prst="line">
            <a:avLst/>
          </a:prstGeom>
          <a:ln w="114300" cap="flat">
            <a:solidFill>
              <a:srgbClr val="FE82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nl-BE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B751A52-CC42-CD6F-0E38-9C1363C294C6}"/>
              </a:ext>
            </a:extLst>
          </p:cNvPr>
          <p:cNvSpPr txBox="1"/>
          <p:nvPr/>
        </p:nvSpPr>
        <p:spPr>
          <a:xfrm>
            <a:off x="1028700" y="1134498"/>
            <a:ext cx="10034500" cy="44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4000" b="1" spc="240" dirty="0">
                <a:solidFill>
                  <a:srgbClr val="12100E"/>
                </a:solidFill>
                <a:latin typeface="Open Sauce"/>
                <a:ea typeface="Open Sauce"/>
                <a:cs typeface="Open Sauce"/>
                <a:sym typeface="Open Sauce"/>
              </a:rPr>
              <a:t>Algorithm</a:t>
            </a:r>
            <a:endParaRPr lang="en-US" sz="4000" b="1" u="none" strike="noStrike" spc="240" dirty="0">
              <a:solidFill>
                <a:srgbClr val="12100E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CB2224A-7547-634B-1409-2E65BD87DD5D}"/>
              </a:ext>
            </a:extLst>
          </p:cNvPr>
          <p:cNvSpPr txBox="1"/>
          <p:nvPr/>
        </p:nvSpPr>
        <p:spPr>
          <a:xfrm>
            <a:off x="13899759" y="8695111"/>
            <a:ext cx="3359541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100" dirty="0">
                <a:solidFill>
                  <a:srgbClr val="FE8213"/>
                </a:solidFill>
                <a:latin typeface="Open Sauce"/>
                <a:ea typeface="Open Sauce"/>
                <a:cs typeface="Open Sauce"/>
                <a:sym typeface="Open Sauce"/>
              </a:rPr>
              <a:t>12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1F21307-22A3-8E2F-6690-C4D784F90608}"/>
              </a:ext>
            </a:extLst>
          </p:cNvPr>
          <p:cNvSpPr txBox="1"/>
          <p:nvPr/>
        </p:nvSpPr>
        <p:spPr>
          <a:xfrm>
            <a:off x="2110201" y="4979035"/>
            <a:ext cx="35409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spc="-55">
                <a:solidFill>
                  <a:srgbClr val="FFFD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496D572-1CD1-E616-A0C6-1B8AF3F374EF}"/>
              </a:ext>
            </a:extLst>
          </p:cNvPr>
          <p:cNvSpPr txBox="1"/>
          <p:nvPr/>
        </p:nvSpPr>
        <p:spPr>
          <a:xfrm>
            <a:off x="15784402" y="4979035"/>
            <a:ext cx="35409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spc="-55">
                <a:solidFill>
                  <a:srgbClr val="FFFD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5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697B5A88-9E66-90B9-0138-8CFE35533E19}"/>
              </a:ext>
            </a:extLst>
          </p:cNvPr>
          <p:cNvSpPr txBox="1"/>
          <p:nvPr/>
        </p:nvSpPr>
        <p:spPr>
          <a:xfrm>
            <a:off x="9051677" y="4979035"/>
            <a:ext cx="35409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spc="-55">
                <a:solidFill>
                  <a:srgbClr val="FFFD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F7BF58F3-9A4C-5EC7-7468-6FE01B6629D3}"/>
              </a:ext>
            </a:extLst>
          </p:cNvPr>
          <p:cNvSpPr txBox="1"/>
          <p:nvPr/>
        </p:nvSpPr>
        <p:spPr>
          <a:xfrm>
            <a:off x="5580939" y="4979035"/>
            <a:ext cx="35409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spc="-55">
                <a:solidFill>
                  <a:srgbClr val="FFFD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1F93F4E0-E9ED-F668-775A-FD1A3F2FBDC1}"/>
              </a:ext>
            </a:extLst>
          </p:cNvPr>
          <p:cNvSpPr txBox="1"/>
          <p:nvPr/>
        </p:nvSpPr>
        <p:spPr>
          <a:xfrm>
            <a:off x="12418039" y="4979035"/>
            <a:ext cx="35409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spc="-55">
                <a:solidFill>
                  <a:srgbClr val="FFFD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  <p:pic>
        <p:nvPicPr>
          <p:cNvPr id="6" name="Afbeelding 5" descr="Afbeelding met tekst, schermopname, software, Computerpictogram&#10;&#10;Door AI gegenereerde inhoud is mogelijk onjuist.">
            <a:extLst>
              <a:ext uri="{FF2B5EF4-FFF2-40B4-BE49-F238E27FC236}">
                <a16:creationId xmlns:a16="http://schemas.microsoft.com/office/drawing/2014/main" id="{FAEF205F-155A-2A75-8BF0-6A9B1B088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934" y="503587"/>
            <a:ext cx="7489226" cy="4067209"/>
          </a:xfrm>
          <a:prstGeom prst="rect">
            <a:avLst/>
          </a:prstGeom>
        </p:spPr>
      </p:pic>
      <p:pic>
        <p:nvPicPr>
          <p:cNvPr id="7" name="Afbeelding 6" descr="Afbeelding met tekst, schermopname, Lettertype, nummer&#10;&#10;Door AI gegenereerde inhoud is mogelijk onjuist.">
            <a:extLst>
              <a:ext uri="{FF2B5EF4-FFF2-40B4-BE49-F238E27FC236}">
                <a16:creationId xmlns:a16="http://schemas.microsoft.com/office/drawing/2014/main" id="{BA2D3ED1-32EF-ED6E-37E2-18B05543B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4934" y="4982936"/>
            <a:ext cx="7654017" cy="3227614"/>
          </a:xfrm>
          <a:prstGeom prst="rect">
            <a:avLst/>
          </a:prstGeom>
        </p:spPr>
      </p:pic>
      <p:sp>
        <p:nvSpPr>
          <p:cNvPr id="9" name="Freeform 4">
            <a:extLst>
              <a:ext uri="{FF2B5EF4-FFF2-40B4-BE49-F238E27FC236}">
                <a16:creationId xmlns:a16="http://schemas.microsoft.com/office/drawing/2014/main" id="{4CC3F070-592A-2454-AEB4-3B315E0C5BDF}"/>
              </a:ext>
            </a:extLst>
          </p:cNvPr>
          <p:cNvSpPr/>
          <p:nvPr/>
        </p:nvSpPr>
        <p:spPr>
          <a:xfrm rot="5400000">
            <a:off x="609265" y="3004044"/>
            <a:ext cx="660516" cy="660516"/>
          </a:xfrm>
          <a:custGeom>
            <a:avLst/>
            <a:gdLst/>
            <a:ahLst/>
            <a:cxnLst/>
            <a:rect l="l" t="t" r="r" b="b"/>
            <a:pathLst>
              <a:path w="660516" h="660516">
                <a:moveTo>
                  <a:pt x="0" y="0"/>
                </a:moveTo>
                <a:lnTo>
                  <a:pt x="660516" y="0"/>
                </a:lnTo>
                <a:lnTo>
                  <a:pt x="660516" y="660516"/>
                </a:lnTo>
                <a:lnTo>
                  <a:pt x="0" y="660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1075DCB4-0493-3D52-D962-3D8EADB80A48}"/>
              </a:ext>
            </a:extLst>
          </p:cNvPr>
          <p:cNvSpPr/>
          <p:nvPr/>
        </p:nvSpPr>
        <p:spPr>
          <a:xfrm rot="5400000">
            <a:off x="584142" y="4570796"/>
            <a:ext cx="660516" cy="660516"/>
          </a:xfrm>
          <a:custGeom>
            <a:avLst/>
            <a:gdLst/>
            <a:ahLst/>
            <a:cxnLst/>
            <a:rect l="l" t="t" r="r" b="b"/>
            <a:pathLst>
              <a:path w="660516" h="660516">
                <a:moveTo>
                  <a:pt x="0" y="0"/>
                </a:moveTo>
                <a:lnTo>
                  <a:pt x="660516" y="0"/>
                </a:lnTo>
                <a:lnTo>
                  <a:pt x="660516" y="660516"/>
                </a:lnTo>
                <a:lnTo>
                  <a:pt x="0" y="660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14" name="Freeform 4">
            <a:extLst>
              <a:ext uri="{FF2B5EF4-FFF2-40B4-BE49-F238E27FC236}">
                <a16:creationId xmlns:a16="http://schemas.microsoft.com/office/drawing/2014/main" id="{87B85B57-850C-5610-14D4-646185E1DC5D}"/>
              </a:ext>
            </a:extLst>
          </p:cNvPr>
          <p:cNvSpPr/>
          <p:nvPr/>
        </p:nvSpPr>
        <p:spPr>
          <a:xfrm rot="5400000">
            <a:off x="584142" y="6079535"/>
            <a:ext cx="660516" cy="660516"/>
          </a:xfrm>
          <a:custGeom>
            <a:avLst/>
            <a:gdLst/>
            <a:ahLst/>
            <a:cxnLst/>
            <a:rect l="l" t="t" r="r" b="b"/>
            <a:pathLst>
              <a:path w="660516" h="660516">
                <a:moveTo>
                  <a:pt x="0" y="0"/>
                </a:moveTo>
                <a:lnTo>
                  <a:pt x="660516" y="0"/>
                </a:lnTo>
                <a:lnTo>
                  <a:pt x="660516" y="660516"/>
                </a:lnTo>
                <a:lnTo>
                  <a:pt x="0" y="660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8FE6E11A-D090-774D-A842-D5C33562D380}"/>
              </a:ext>
            </a:extLst>
          </p:cNvPr>
          <p:cNvSpPr txBox="1"/>
          <p:nvPr/>
        </p:nvSpPr>
        <p:spPr>
          <a:xfrm>
            <a:off x="1403730" y="2952136"/>
            <a:ext cx="630282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sz="2000" dirty="0" err="1">
                <a:latin typeface="Open Sauce"/>
              </a:rPr>
              <a:t>Clearly</a:t>
            </a:r>
            <a:r>
              <a:rPr lang="nl-NL" sz="2000" dirty="0">
                <a:latin typeface="Open Sauce"/>
              </a:rPr>
              <a:t> </a:t>
            </a:r>
            <a:r>
              <a:rPr lang="nl-NL" sz="2000" dirty="0" err="1">
                <a:latin typeface="Open Sauce"/>
              </a:rPr>
              <a:t>highlights</a:t>
            </a:r>
            <a:r>
              <a:rPr lang="nl-NL" sz="2000" dirty="0">
                <a:latin typeface="Open Sauce"/>
              </a:rPr>
              <a:t> </a:t>
            </a:r>
            <a:r>
              <a:rPr lang="nl-NL" sz="2000" dirty="0" err="1">
                <a:latin typeface="Open Sauce"/>
              </a:rPr>
              <a:t>rentals</a:t>
            </a:r>
            <a:r>
              <a:rPr lang="nl-NL" sz="2000" dirty="0">
                <a:latin typeface="Open Sauce"/>
              </a:rPr>
              <a:t> </a:t>
            </a:r>
            <a:r>
              <a:rPr lang="nl-NL" sz="2000" dirty="0" err="1">
                <a:latin typeface="Open Sauce"/>
              </a:rPr>
              <a:t>expiring</a:t>
            </a:r>
            <a:r>
              <a:rPr lang="nl-NL" sz="2000" dirty="0">
                <a:latin typeface="Open Sauce"/>
              </a:rPr>
              <a:t> </a:t>
            </a:r>
            <a:r>
              <a:rPr lang="nl-NL" sz="2000" dirty="0" err="1">
                <a:latin typeface="Open Sauce"/>
              </a:rPr>
              <a:t>within</a:t>
            </a:r>
            <a:r>
              <a:rPr lang="nl-NL" sz="2000" dirty="0">
                <a:latin typeface="Open Sauce"/>
              </a:rPr>
              <a:t> </a:t>
            </a:r>
            <a:r>
              <a:rPr lang="nl-NL" sz="2000" dirty="0" err="1">
                <a:latin typeface="Open Sauce"/>
              </a:rPr>
              <a:t>the</a:t>
            </a:r>
            <a:r>
              <a:rPr lang="nl-NL" sz="2000" dirty="0">
                <a:latin typeface="Open Sauce"/>
              </a:rPr>
              <a:t> next 30 </a:t>
            </a:r>
            <a:r>
              <a:rPr lang="nl-NL" sz="2000" dirty="0" err="1">
                <a:latin typeface="Open Sauce"/>
              </a:rPr>
              <a:t>days</a:t>
            </a:r>
            <a:endParaRPr lang="nl-NL" sz="2000" dirty="0">
              <a:latin typeface="Open Sauce"/>
            </a:endParaRP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CAE79DCB-7036-9AF9-3259-21CEEA3C617C}"/>
              </a:ext>
            </a:extLst>
          </p:cNvPr>
          <p:cNvSpPr txBox="1"/>
          <p:nvPr/>
        </p:nvSpPr>
        <p:spPr>
          <a:xfrm>
            <a:off x="1403730" y="4599925"/>
            <a:ext cx="653142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sz="2000" err="1">
                <a:latin typeface="Open Sauce"/>
              </a:rPr>
              <a:t>Provides</a:t>
            </a:r>
            <a:r>
              <a:rPr lang="nl-NL" sz="2000">
                <a:latin typeface="Open Sauce"/>
              </a:rPr>
              <a:t> direct access </a:t>
            </a:r>
            <a:r>
              <a:rPr lang="nl-NL" sz="2000" err="1">
                <a:latin typeface="Open Sauce"/>
              </a:rPr>
              <a:t>to</a:t>
            </a:r>
            <a:r>
              <a:rPr lang="nl-NL" sz="2000">
                <a:latin typeface="Open Sauce"/>
              </a:rPr>
              <a:t> </a:t>
            </a:r>
            <a:r>
              <a:rPr lang="nl-NL" sz="2000" err="1">
                <a:latin typeface="Open Sauce"/>
              </a:rPr>
              <a:t>parent</a:t>
            </a:r>
            <a:r>
              <a:rPr lang="nl-NL" sz="2000">
                <a:latin typeface="Open Sauce"/>
              </a:rPr>
              <a:t> contact details via </a:t>
            </a:r>
            <a:r>
              <a:rPr lang="nl-NL" sz="2000" err="1">
                <a:latin typeface="Open Sauce"/>
              </a:rPr>
              <a:t>one</a:t>
            </a:r>
            <a:r>
              <a:rPr lang="nl-NL" sz="2000">
                <a:latin typeface="Open Sauce"/>
              </a:rPr>
              <a:t>-click email copy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AA5DA53F-FFD7-CDF6-837C-4BF40C642310}"/>
              </a:ext>
            </a:extLst>
          </p:cNvPr>
          <p:cNvSpPr txBox="1"/>
          <p:nvPr/>
        </p:nvSpPr>
        <p:spPr>
          <a:xfrm>
            <a:off x="1452715" y="6055850"/>
            <a:ext cx="643345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sz="2000" dirty="0" err="1">
                <a:latin typeface="Open Sauce"/>
              </a:rPr>
              <a:t>Helps</a:t>
            </a:r>
            <a:r>
              <a:rPr lang="nl-NL" sz="2000" dirty="0">
                <a:latin typeface="Open Sauce"/>
              </a:rPr>
              <a:t> </a:t>
            </a:r>
            <a:r>
              <a:rPr lang="nl-NL" sz="2000" dirty="0" err="1">
                <a:latin typeface="Open Sauce"/>
              </a:rPr>
              <a:t>staff</a:t>
            </a:r>
            <a:r>
              <a:rPr lang="nl-NL" sz="2000" dirty="0">
                <a:latin typeface="Open Sauce"/>
              </a:rPr>
              <a:t> take </a:t>
            </a:r>
            <a:r>
              <a:rPr lang="nl-NL" sz="2000" dirty="0" err="1">
                <a:latin typeface="Open Sauce"/>
              </a:rPr>
              <a:t>quick</a:t>
            </a:r>
            <a:r>
              <a:rPr lang="nl-NL" sz="2000" dirty="0">
                <a:latin typeface="Open Sauce"/>
              </a:rPr>
              <a:t> action without </a:t>
            </a:r>
            <a:r>
              <a:rPr lang="nl-NL" sz="2000" dirty="0" err="1">
                <a:latin typeface="Open Sauce"/>
              </a:rPr>
              <a:t>leaving</a:t>
            </a:r>
            <a:r>
              <a:rPr lang="nl-NL" sz="2000" dirty="0">
                <a:latin typeface="Open Sauce"/>
              </a:rPr>
              <a:t> </a:t>
            </a:r>
            <a:r>
              <a:rPr lang="nl-NL" sz="2000" dirty="0" err="1">
                <a:latin typeface="Open Sauce"/>
              </a:rPr>
              <a:t>the</a:t>
            </a:r>
            <a:r>
              <a:rPr lang="nl-NL" sz="2000" dirty="0">
                <a:latin typeface="Open Sauce"/>
              </a:rPr>
              <a:t> dashboard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1D2B23A5-1B95-BDFC-5E85-5E6C0A015612}"/>
              </a:ext>
            </a:extLst>
          </p:cNvPr>
          <p:cNvSpPr txBox="1"/>
          <p:nvPr/>
        </p:nvSpPr>
        <p:spPr>
          <a:xfrm>
            <a:off x="1028700" y="1943100"/>
            <a:ext cx="8684843" cy="600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en-US" sz="3600" u="none" strike="noStrike" spc="-72" dirty="0">
                <a:solidFill>
                  <a:srgbClr val="12100E"/>
                </a:solidFill>
                <a:latin typeface="Open Sauce" panose="020B0604020202020204" charset="0"/>
                <a:ea typeface="Noto Serif Bold"/>
                <a:cs typeface="Noto Serif Bold"/>
                <a:sym typeface="Noto Serif Bold"/>
              </a:rPr>
              <a:t>User interface</a:t>
            </a:r>
          </a:p>
        </p:txBody>
      </p:sp>
    </p:spTree>
    <p:extLst>
      <p:ext uri="{BB962C8B-B14F-4D97-AF65-F5344CB8AC3E}">
        <p14:creationId xmlns:p14="http://schemas.microsoft.com/office/powerpoint/2010/main" val="2728782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EFAE5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92B6AE-C2A8-294A-489A-D43540E56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87500A21-F26F-3BFE-3C90-EB63B7FFEB2F}"/>
              </a:ext>
            </a:extLst>
          </p:cNvPr>
          <p:cNvSpPr/>
          <p:nvPr/>
        </p:nvSpPr>
        <p:spPr>
          <a:xfrm>
            <a:off x="664869" y="1028700"/>
            <a:ext cx="0" cy="639585"/>
          </a:xfrm>
          <a:prstGeom prst="line">
            <a:avLst/>
          </a:prstGeom>
          <a:ln w="114300" cap="flat">
            <a:solidFill>
              <a:srgbClr val="FE82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nl-BE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1BB883D-59FF-03BC-E416-F70DED440E16}"/>
              </a:ext>
            </a:extLst>
          </p:cNvPr>
          <p:cNvSpPr txBox="1"/>
          <p:nvPr/>
        </p:nvSpPr>
        <p:spPr>
          <a:xfrm>
            <a:off x="1131939" y="1126027"/>
            <a:ext cx="10034500" cy="44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4000" b="1" spc="240" dirty="0">
                <a:solidFill>
                  <a:srgbClr val="12100E"/>
                </a:solidFill>
                <a:latin typeface="Open Sauce"/>
                <a:ea typeface="Open Sauce"/>
                <a:cs typeface="Open Sauce"/>
              </a:rPr>
              <a:t>ERD-Model</a:t>
            </a:r>
            <a:endParaRPr lang="en-US" sz="4000" b="1" u="none" strike="noStrike" spc="240" dirty="0">
              <a:solidFill>
                <a:srgbClr val="12100E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A20340B-9C7B-D2F2-F3E6-6C2A9FA0CE9E}"/>
              </a:ext>
            </a:extLst>
          </p:cNvPr>
          <p:cNvSpPr txBox="1"/>
          <p:nvPr/>
        </p:nvSpPr>
        <p:spPr>
          <a:xfrm>
            <a:off x="13899759" y="8695111"/>
            <a:ext cx="3359541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100" dirty="0">
                <a:solidFill>
                  <a:srgbClr val="FE8213"/>
                </a:solidFill>
                <a:latin typeface="Open Sauce"/>
                <a:ea typeface="Open Sauce"/>
                <a:cs typeface="Open Sauce"/>
                <a:sym typeface="Open Sauce"/>
              </a:rPr>
              <a:t>13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FABF983-12BA-63CC-BB65-2238FB03EC5F}"/>
              </a:ext>
            </a:extLst>
          </p:cNvPr>
          <p:cNvSpPr txBox="1"/>
          <p:nvPr/>
        </p:nvSpPr>
        <p:spPr>
          <a:xfrm>
            <a:off x="2110201" y="4979035"/>
            <a:ext cx="35409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spc="-55">
                <a:solidFill>
                  <a:srgbClr val="FFFD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305B566-0F0A-C937-51E2-E6B422EE2BB0}"/>
              </a:ext>
            </a:extLst>
          </p:cNvPr>
          <p:cNvSpPr txBox="1"/>
          <p:nvPr/>
        </p:nvSpPr>
        <p:spPr>
          <a:xfrm>
            <a:off x="15784402" y="4979035"/>
            <a:ext cx="35409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spc="-55">
                <a:solidFill>
                  <a:srgbClr val="FFFD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5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68AE4CB-0959-1B21-0A21-F17DE9458D93}"/>
              </a:ext>
            </a:extLst>
          </p:cNvPr>
          <p:cNvSpPr txBox="1"/>
          <p:nvPr/>
        </p:nvSpPr>
        <p:spPr>
          <a:xfrm>
            <a:off x="9051677" y="4979035"/>
            <a:ext cx="35409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spc="-55">
                <a:solidFill>
                  <a:srgbClr val="FFFD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B27A21A-9050-2BDE-20D5-9F7599DC7AB1}"/>
              </a:ext>
            </a:extLst>
          </p:cNvPr>
          <p:cNvSpPr txBox="1"/>
          <p:nvPr/>
        </p:nvSpPr>
        <p:spPr>
          <a:xfrm>
            <a:off x="5580939" y="4979035"/>
            <a:ext cx="35409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spc="-55">
                <a:solidFill>
                  <a:srgbClr val="FFFD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090C42D-3B73-DFE1-0B7A-CC70DE8057B4}"/>
              </a:ext>
            </a:extLst>
          </p:cNvPr>
          <p:cNvSpPr txBox="1"/>
          <p:nvPr/>
        </p:nvSpPr>
        <p:spPr>
          <a:xfrm>
            <a:off x="12418039" y="4979035"/>
            <a:ext cx="35409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spc="-55">
                <a:solidFill>
                  <a:srgbClr val="FFFD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56BDB5B8-07B1-78E7-57FB-08440A8BC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848" y="2006534"/>
            <a:ext cx="12493851" cy="643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761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EFAE5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9990F9-2B1B-D74D-8EE0-29E17CD9D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0B0A2B67-A205-2E8C-1327-23509F68E4A7}"/>
              </a:ext>
            </a:extLst>
          </p:cNvPr>
          <p:cNvSpPr/>
          <p:nvPr/>
        </p:nvSpPr>
        <p:spPr>
          <a:xfrm>
            <a:off x="664869" y="1028700"/>
            <a:ext cx="0" cy="639585"/>
          </a:xfrm>
          <a:prstGeom prst="line">
            <a:avLst/>
          </a:prstGeom>
          <a:ln w="114300" cap="flat">
            <a:solidFill>
              <a:srgbClr val="FE82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nl-BE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291C625-95F8-8802-4DC9-9EEB7615F8E4}"/>
              </a:ext>
            </a:extLst>
          </p:cNvPr>
          <p:cNvSpPr txBox="1"/>
          <p:nvPr/>
        </p:nvSpPr>
        <p:spPr>
          <a:xfrm>
            <a:off x="1131939" y="1126027"/>
            <a:ext cx="10034500" cy="44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4000" b="1" u="none" strike="noStrike" spc="240" dirty="0">
                <a:solidFill>
                  <a:srgbClr val="12100E"/>
                </a:solidFill>
                <a:latin typeface="Open Sauce"/>
                <a:ea typeface="Open Sauce"/>
                <a:cs typeface="Open Sauce"/>
              </a:rPr>
              <a:t>Upscaling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5B6AC2D-1F2D-C0C5-7E57-4A994E4B252F}"/>
              </a:ext>
            </a:extLst>
          </p:cNvPr>
          <p:cNvSpPr txBox="1"/>
          <p:nvPr/>
        </p:nvSpPr>
        <p:spPr>
          <a:xfrm>
            <a:off x="13899759" y="8695111"/>
            <a:ext cx="3359541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100" dirty="0">
                <a:solidFill>
                  <a:srgbClr val="FE8213"/>
                </a:solidFill>
                <a:latin typeface="Open Sauce"/>
                <a:ea typeface="Open Sauce"/>
                <a:cs typeface="Open Sauce"/>
                <a:sym typeface="Open Sauce"/>
              </a:rPr>
              <a:t>14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B7F7751-3457-E33B-6242-5897246A6ADF}"/>
              </a:ext>
            </a:extLst>
          </p:cNvPr>
          <p:cNvSpPr txBox="1"/>
          <p:nvPr/>
        </p:nvSpPr>
        <p:spPr>
          <a:xfrm>
            <a:off x="2110201" y="4979035"/>
            <a:ext cx="35409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spc="-55">
                <a:solidFill>
                  <a:srgbClr val="FFFD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53CBC80-2CEC-CE95-9FC6-BB59D62128DE}"/>
              </a:ext>
            </a:extLst>
          </p:cNvPr>
          <p:cNvSpPr txBox="1"/>
          <p:nvPr/>
        </p:nvSpPr>
        <p:spPr>
          <a:xfrm>
            <a:off x="15784402" y="4979035"/>
            <a:ext cx="35409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spc="-55">
                <a:solidFill>
                  <a:srgbClr val="FFFD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5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5B42D33C-D0AB-D720-ABFF-4F351DE69E48}"/>
              </a:ext>
            </a:extLst>
          </p:cNvPr>
          <p:cNvSpPr txBox="1"/>
          <p:nvPr/>
        </p:nvSpPr>
        <p:spPr>
          <a:xfrm>
            <a:off x="9051677" y="4979035"/>
            <a:ext cx="35409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spc="-55">
                <a:solidFill>
                  <a:srgbClr val="FFFD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12930C2-0653-FF77-46CC-CBA3A1177F95}"/>
              </a:ext>
            </a:extLst>
          </p:cNvPr>
          <p:cNvSpPr txBox="1"/>
          <p:nvPr/>
        </p:nvSpPr>
        <p:spPr>
          <a:xfrm>
            <a:off x="5580939" y="4979035"/>
            <a:ext cx="35409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spc="-55">
                <a:solidFill>
                  <a:srgbClr val="FFFD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7EFE0DBA-0EBA-7079-6E27-2A1F3B0204CC}"/>
              </a:ext>
            </a:extLst>
          </p:cNvPr>
          <p:cNvSpPr txBox="1"/>
          <p:nvPr/>
        </p:nvSpPr>
        <p:spPr>
          <a:xfrm>
            <a:off x="12418039" y="4979035"/>
            <a:ext cx="35409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spc="-55">
                <a:solidFill>
                  <a:srgbClr val="FFFD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  <p:pic>
        <p:nvPicPr>
          <p:cNvPr id="6" name="Afbeelding 1" descr="Afbeelding met tekst, schermopname, ontwerp&#10;&#10;Door AI gegenereerde inhoud is mogelijk onjuist.">
            <a:extLst>
              <a:ext uri="{FF2B5EF4-FFF2-40B4-BE49-F238E27FC236}">
                <a16:creationId xmlns:a16="http://schemas.microsoft.com/office/drawing/2014/main" id="{06E8C01B-316D-FAD1-A585-F94805214B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26138"/>
          <a:stretch>
            <a:fillRect/>
          </a:stretch>
        </p:blipFill>
        <p:spPr>
          <a:xfrm>
            <a:off x="1963295" y="1028700"/>
            <a:ext cx="14530860" cy="7727705"/>
          </a:xfrm>
          <a:custGeom>
            <a:avLst/>
            <a:gdLst/>
            <a:ahLst/>
            <a:cxnLst/>
            <a:rect l="l" t="t" r="r" b="b"/>
            <a:pathLst>
              <a:path w="10630858" h="5869478">
                <a:moveTo>
                  <a:pt x="5791061" y="218"/>
                </a:moveTo>
                <a:cubicBezTo>
                  <a:pt x="5877327" y="-560"/>
                  <a:pt x="5971399" y="626"/>
                  <a:pt x="6073275" y="5793"/>
                </a:cubicBezTo>
                <a:cubicBezTo>
                  <a:pt x="6098744" y="7086"/>
                  <a:pt x="6121786" y="8165"/>
                  <a:pt x="6142651" y="9057"/>
                </a:cubicBezTo>
                <a:lnTo>
                  <a:pt x="6164185" y="9874"/>
                </a:lnTo>
                <a:lnTo>
                  <a:pt x="6258731" y="5793"/>
                </a:lnTo>
                <a:lnTo>
                  <a:pt x="6319194" y="2002"/>
                </a:lnTo>
                <a:lnTo>
                  <a:pt x="6413049" y="11772"/>
                </a:lnTo>
                <a:cubicBezTo>
                  <a:pt x="6592720" y="42783"/>
                  <a:pt x="6774188" y="66100"/>
                  <a:pt x="6956654" y="46745"/>
                </a:cubicBezTo>
                <a:cubicBezTo>
                  <a:pt x="7082424" y="33223"/>
                  <a:pt x="7207994" y="25294"/>
                  <a:pt x="7334364" y="25763"/>
                </a:cubicBezTo>
                <a:cubicBezTo>
                  <a:pt x="7624835" y="25763"/>
                  <a:pt x="7915502" y="28559"/>
                  <a:pt x="8205974" y="22730"/>
                </a:cubicBezTo>
                <a:cubicBezTo>
                  <a:pt x="8464499" y="17601"/>
                  <a:pt x="8722029" y="6412"/>
                  <a:pt x="8980756" y="34620"/>
                </a:cubicBezTo>
                <a:cubicBezTo>
                  <a:pt x="9362658" y="76124"/>
                  <a:pt x="9746556" y="62832"/>
                  <a:pt x="10129655" y="57937"/>
                </a:cubicBezTo>
                <a:lnTo>
                  <a:pt x="10163726" y="56766"/>
                </a:lnTo>
                <a:lnTo>
                  <a:pt x="10254950" y="73131"/>
                </a:lnTo>
                <a:lnTo>
                  <a:pt x="10311819" y="101928"/>
                </a:lnTo>
                <a:cubicBezTo>
                  <a:pt x="10479504" y="200737"/>
                  <a:pt x="10591476" y="367254"/>
                  <a:pt x="10625532" y="561669"/>
                </a:cubicBezTo>
                <a:lnTo>
                  <a:pt x="10626834" y="578090"/>
                </a:lnTo>
                <a:lnTo>
                  <a:pt x="10611964" y="734537"/>
                </a:lnTo>
                <a:cubicBezTo>
                  <a:pt x="10602387" y="823467"/>
                  <a:pt x="10587763" y="913306"/>
                  <a:pt x="10611964" y="1001326"/>
                </a:cubicBezTo>
                <a:cubicBezTo>
                  <a:pt x="10628543" y="1062669"/>
                  <a:pt x="10632231" y="1127783"/>
                  <a:pt x="10622705" y="1191154"/>
                </a:cubicBezTo>
                <a:cubicBezTo>
                  <a:pt x="10606645" y="1303627"/>
                  <a:pt x="10603293" y="1418084"/>
                  <a:pt x="10612740" y="1531572"/>
                </a:cubicBezTo>
                <a:cubicBezTo>
                  <a:pt x="10618978" y="1606398"/>
                  <a:pt x="10618020" y="1681815"/>
                  <a:pt x="10609893" y="1756397"/>
                </a:cubicBezTo>
                <a:cubicBezTo>
                  <a:pt x="10599152" y="1856690"/>
                  <a:pt x="10582457" y="1958800"/>
                  <a:pt x="10602776" y="2059394"/>
                </a:cubicBezTo>
                <a:cubicBezTo>
                  <a:pt x="10635130" y="2219226"/>
                  <a:pt x="10628659" y="2378906"/>
                  <a:pt x="10615717" y="2539949"/>
                </a:cubicBezTo>
                <a:cubicBezTo>
                  <a:pt x="10606011" y="2659785"/>
                  <a:pt x="10595269" y="2780984"/>
                  <a:pt x="10614682" y="2902183"/>
                </a:cubicBezTo>
                <a:cubicBezTo>
                  <a:pt x="10623029" y="2958418"/>
                  <a:pt x="10623029" y="3015928"/>
                  <a:pt x="10614682" y="3072165"/>
                </a:cubicBezTo>
                <a:cubicBezTo>
                  <a:pt x="10604587" y="3147914"/>
                  <a:pt x="10595010" y="3222907"/>
                  <a:pt x="10607952" y="3299413"/>
                </a:cubicBezTo>
                <a:cubicBezTo>
                  <a:pt x="10613646" y="3332743"/>
                  <a:pt x="10617917" y="3366376"/>
                  <a:pt x="10620894" y="3400009"/>
                </a:cubicBezTo>
                <a:cubicBezTo>
                  <a:pt x="10626822" y="3485877"/>
                  <a:pt x="10624699" y="3572233"/>
                  <a:pt x="10614553" y="3657556"/>
                </a:cubicBezTo>
                <a:cubicBezTo>
                  <a:pt x="10604846" y="3756637"/>
                  <a:pt x="10620635" y="3856323"/>
                  <a:pt x="10607694" y="3955100"/>
                </a:cubicBezTo>
                <a:cubicBezTo>
                  <a:pt x="10598504" y="4034653"/>
                  <a:pt x="10598155" y="4115265"/>
                  <a:pt x="10606658" y="4194923"/>
                </a:cubicBezTo>
                <a:cubicBezTo>
                  <a:pt x="10621954" y="4345512"/>
                  <a:pt x="10620998" y="4497755"/>
                  <a:pt x="10603811" y="4648057"/>
                </a:cubicBezTo>
                <a:cubicBezTo>
                  <a:pt x="10593198" y="4735775"/>
                  <a:pt x="10587116" y="4826067"/>
                  <a:pt x="10606140" y="4912119"/>
                </a:cubicBezTo>
                <a:cubicBezTo>
                  <a:pt x="10628530" y="5013245"/>
                  <a:pt x="10633189" y="5114446"/>
                  <a:pt x="10629921" y="5215515"/>
                </a:cubicBezTo>
                <a:lnTo>
                  <a:pt x="10625356" y="5273604"/>
                </a:lnTo>
                <a:lnTo>
                  <a:pt x="10624284" y="5284086"/>
                </a:lnTo>
                <a:cubicBezTo>
                  <a:pt x="10601148" y="5404993"/>
                  <a:pt x="10545219" y="5529874"/>
                  <a:pt x="10458692" y="5632218"/>
                </a:cubicBezTo>
                <a:lnTo>
                  <a:pt x="10418904" y="5670857"/>
                </a:lnTo>
                <a:lnTo>
                  <a:pt x="10417064" y="5673484"/>
                </a:lnTo>
                <a:cubicBezTo>
                  <a:pt x="10307992" y="5802550"/>
                  <a:pt x="10158402" y="5877799"/>
                  <a:pt x="9954609" y="5858572"/>
                </a:cubicBezTo>
                <a:cubicBezTo>
                  <a:pt x="9860355" y="5870096"/>
                  <a:pt x="9750551" y="5855439"/>
                  <a:pt x="9657171" y="5854061"/>
                </a:cubicBezTo>
                <a:lnTo>
                  <a:pt x="9612467" y="5856387"/>
                </a:lnTo>
                <a:lnTo>
                  <a:pt x="9279984" y="5838331"/>
                </a:lnTo>
                <a:cubicBezTo>
                  <a:pt x="9153141" y="5834280"/>
                  <a:pt x="9026273" y="5834164"/>
                  <a:pt x="8899305" y="5841275"/>
                </a:cubicBezTo>
                <a:cubicBezTo>
                  <a:pt x="8761407" y="5850940"/>
                  <a:pt x="8623304" y="5854733"/>
                  <a:pt x="8485266" y="5852671"/>
                </a:cubicBezTo>
                <a:lnTo>
                  <a:pt x="8314842" y="5842884"/>
                </a:lnTo>
                <a:lnTo>
                  <a:pt x="8193631" y="5825368"/>
                </a:lnTo>
                <a:lnTo>
                  <a:pt x="8029897" y="5818284"/>
                </a:lnTo>
                <a:lnTo>
                  <a:pt x="8028296" y="5817260"/>
                </a:lnTo>
                <a:lnTo>
                  <a:pt x="8008332" y="5817260"/>
                </a:lnTo>
                <a:lnTo>
                  <a:pt x="8006732" y="5818114"/>
                </a:lnTo>
                <a:lnTo>
                  <a:pt x="7839115" y="5825368"/>
                </a:lnTo>
                <a:lnTo>
                  <a:pt x="7801585" y="5830791"/>
                </a:lnTo>
                <a:lnTo>
                  <a:pt x="7734233" y="5834980"/>
                </a:lnTo>
                <a:lnTo>
                  <a:pt x="7482820" y="5855530"/>
                </a:lnTo>
                <a:lnTo>
                  <a:pt x="7445741" y="5854102"/>
                </a:lnTo>
                <a:lnTo>
                  <a:pt x="7403701" y="5858035"/>
                </a:lnTo>
                <a:lnTo>
                  <a:pt x="7155292" y="5854564"/>
                </a:lnTo>
                <a:cubicBezTo>
                  <a:pt x="6874805" y="5835913"/>
                  <a:pt x="6593917" y="5824488"/>
                  <a:pt x="6312830" y="5849900"/>
                </a:cubicBezTo>
                <a:lnTo>
                  <a:pt x="6232577" y="5855788"/>
                </a:lnTo>
                <a:lnTo>
                  <a:pt x="6231985" y="5855764"/>
                </a:lnTo>
                <a:lnTo>
                  <a:pt x="6166003" y="5858572"/>
                </a:lnTo>
                <a:cubicBezTo>
                  <a:pt x="6100624" y="5861901"/>
                  <a:pt x="6043822" y="5864887"/>
                  <a:pt x="5993271" y="5866513"/>
                </a:cubicBezTo>
                <a:lnTo>
                  <a:pt x="5925657" y="5866398"/>
                </a:lnTo>
                <a:lnTo>
                  <a:pt x="5833706" y="5859695"/>
                </a:lnTo>
                <a:cubicBezTo>
                  <a:pt x="5697214" y="5841788"/>
                  <a:pt x="5559607" y="5838897"/>
                  <a:pt x="5422657" y="5851067"/>
                </a:cubicBezTo>
                <a:lnTo>
                  <a:pt x="5250035" y="5858044"/>
                </a:lnTo>
                <a:lnTo>
                  <a:pt x="5151093" y="5858278"/>
                </a:lnTo>
                <a:lnTo>
                  <a:pt x="4972680" y="5851067"/>
                </a:lnTo>
                <a:cubicBezTo>
                  <a:pt x="4829141" y="5841741"/>
                  <a:pt x="4685204" y="5826120"/>
                  <a:pt x="4542066" y="5842905"/>
                </a:cubicBezTo>
                <a:cubicBezTo>
                  <a:pt x="4491758" y="5848734"/>
                  <a:pt x="4441488" y="5852626"/>
                  <a:pt x="4391242" y="5854962"/>
                </a:cubicBezTo>
                <a:lnTo>
                  <a:pt x="4246482" y="5857576"/>
                </a:lnTo>
                <a:lnTo>
                  <a:pt x="4221030" y="5856572"/>
                </a:lnTo>
                <a:lnTo>
                  <a:pt x="4218005" y="5856681"/>
                </a:lnTo>
                <a:lnTo>
                  <a:pt x="3939367" y="5844305"/>
                </a:lnTo>
                <a:cubicBezTo>
                  <a:pt x="3773470" y="5832648"/>
                  <a:pt x="3606974" y="5815626"/>
                  <a:pt x="3441875" y="5843140"/>
                </a:cubicBezTo>
                <a:cubicBezTo>
                  <a:pt x="3386806" y="5851400"/>
                  <a:pt x="3331601" y="5858126"/>
                  <a:pt x="3276306" y="5863318"/>
                </a:cubicBezTo>
                <a:lnTo>
                  <a:pt x="3225006" y="5866706"/>
                </a:lnTo>
                <a:lnTo>
                  <a:pt x="3194056" y="5866407"/>
                </a:lnTo>
                <a:lnTo>
                  <a:pt x="3082891" y="5863061"/>
                </a:lnTo>
                <a:lnTo>
                  <a:pt x="3013959" y="5869302"/>
                </a:lnTo>
                <a:cubicBezTo>
                  <a:pt x="2910698" y="5871464"/>
                  <a:pt x="2845426" y="5852913"/>
                  <a:pt x="2748311" y="5858572"/>
                </a:cubicBezTo>
                <a:cubicBezTo>
                  <a:pt x="2736171" y="5859279"/>
                  <a:pt x="2721419" y="5860082"/>
                  <a:pt x="2704411" y="5860936"/>
                </a:cubicBezTo>
                <a:lnTo>
                  <a:pt x="2650475" y="5863440"/>
                </a:lnTo>
                <a:lnTo>
                  <a:pt x="2436349" y="5854816"/>
                </a:lnTo>
                <a:cubicBezTo>
                  <a:pt x="2095150" y="5845165"/>
                  <a:pt x="1753811" y="5845122"/>
                  <a:pt x="1412584" y="5830782"/>
                </a:cubicBezTo>
                <a:cubicBezTo>
                  <a:pt x="1262458" y="5824256"/>
                  <a:pt x="1113131" y="5859227"/>
                  <a:pt x="963404" y="5861093"/>
                </a:cubicBezTo>
                <a:cubicBezTo>
                  <a:pt x="896140" y="5861967"/>
                  <a:pt x="828812" y="5861342"/>
                  <a:pt x="761431" y="5859896"/>
                </a:cubicBezTo>
                <a:lnTo>
                  <a:pt x="637698" y="5856158"/>
                </a:lnTo>
                <a:lnTo>
                  <a:pt x="592997" y="5853711"/>
                </a:lnTo>
                <a:cubicBezTo>
                  <a:pt x="391136" y="5830428"/>
                  <a:pt x="227663" y="5724844"/>
                  <a:pt x="123577" y="5564333"/>
                </a:cubicBezTo>
                <a:lnTo>
                  <a:pt x="99502" y="5518240"/>
                </a:lnTo>
                <a:lnTo>
                  <a:pt x="95609" y="5512764"/>
                </a:lnTo>
                <a:lnTo>
                  <a:pt x="86221" y="5492812"/>
                </a:lnTo>
                <a:lnTo>
                  <a:pt x="61763" y="5445986"/>
                </a:lnTo>
                <a:lnTo>
                  <a:pt x="56991" y="5430695"/>
                </a:lnTo>
                <a:lnTo>
                  <a:pt x="41922" y="5398673"/>
                </a:lnTo>
                <a:lnTo>
                  <a:pt x="25760" y="5339273"/>
                </a:lnTo>
                <a:lnTo>
                  <a:pt x="16811" y="5271956"/>
                </a:lnTo>
                <a:cubicBezTo>
                  <a:pt x="9305" y="5238090"/>
                  <a:pt x="4710" y="5203585"/>
                  <a:pt x="3092" y="5168860"/>
                </a:cubicBezTo>
                <a:cubicBezTo>
                  <a:pt x="-7132" y="5042101"/>
                  <a:pt x="10081" y="4917108"/>
                  <a:pt x="24446" y="4791844"/>
                </a:cubicBezTo>
                <a:cubicBezTo>
                  <a:pt x="34023" y="4712006"/>
                  <a:pt x="48647" y="4631352"/>
                  <a:pt x="24446" y="4552331"/>
                </a:cubicBezTo>
                <a:cubicBezTo>
                  <a:pt x="7867" y="4497261"/>
                  <a:pt x="4180" y="4438805"/>
                  <a:pt x="13705" y="4381912"/>
                </a:cubicBezTo>
                <a:cubicBezTo>
                  <a:pt x="29766" y="4280940"/>
                  <a:pt x="33117" y="4178184"/>
                  <a:pt x="23670" y="4076300"/>
                </a:cubicBezTo>
                <a:cubicBezTo>
                  <a:pt x="17432" y="4009125"/>
                  <a:pt x="18390" y="3941419"/>
                  <a:pt x="26517" y="3874462"/>
                </a:cubicBezTo>
                <a:cubicBezTo>
                  <a:pt x="37258" y="3784423"/>
                  <a:pt x="53954" y="3692752"/>
                  <a:pt x="33635" y="3602444"/>
                </a:cubicBezTo>
                <a:cubicBezTo>
                  <a:pt x="1280" y="3458954"/>
                  <a:pt x="7751" y="3315599"/>
                  <a:pt x="20694" y="3171022"/>
                </a:cubicBezTo>
                <a:cubicBezTo>
                  <a:pt x="30400" y="3063439"/>
                  <a:pt x="41141" y="2954632"/>
                  <a:pt x="21728" y="2845824"/>
                </a:cubicBezTo>
                <a:cubicBezTo>
                  <a:pt x="13381" y="2795337"/>
                  <a:pt x="13381" y="2743709"/>
                  <a:pt x="21728" y="2693221"/>
                </a:cubicBezTo>
                <a:cubicBezTo>
                  <a:pt x="31823" y="2625218"/>
                  <a:pt x="41400" y="2557892"/>
                  <a:pt x="28458" y="2489208"/>
                </a:cubicBezTo>
                <a:cubicBezTo>
                  <a:pt x="22764" y="2459285"/>
                  <a:pt x="18493" y="2429092"/>
                  <a:pt x="15516" y="2398898"/>
                </a:cubicBezTo>
                <a:cubicBezTo>
                  <a:pt x="9589" y="2321809"/>
                  <a:pt x="11711" y="2244283"/>
                  <a:pt x="21857" y="2167683"/>
                </a:cubicBezTo>
                <a:cubicBezTo>
                  <a:pt x="31564" y="2078733"/>
                  <a:pt x="15776" y="1989238"/>
                  <a:pt x="28717" y="1900560"/>
                </a:cubicBezTo>
                <a:cubicBezTo>
                  <a:pt x="37907" y="1829142"/>
                  <a:pt x="38255" y="1756772"/>
                  <a:pt x="29752" y="1685258"/>
                </a:cubicBezTo>
                <a:cubicBezTo>
                  <a:pt x="14456" y="1550065"/>
                  <a:pt x="15412" y="1413389"/>
                  <a:pt x="32599" y="1278454"/>
                </a:cubicBezTo>
                <a:cubicBezTo>
                  <a:pt x="43212" y="1199704"/>
                  <a:pt x="49294" y="1118644"/>
                  <a:pt x="30270" y="1041390"/>
                </a:cubicBezTo>
                <a:cubicBezTo>
                  <a:pt x="-14509" y="859818"/>
                  <a:pt x="11634" y="677973"/>
                  <a:pt x="30270" y="497354"/>
                </a:cubicBezTo>
                <a:lnTo>
                  <a:pt x="31725" y="472895"/>
                </a:lnTo>
                <a:lnTo>
                  <a:pt x="43781" y="427827"/>
                </a:lnTo>
                <a:lnTo>
                  <a:pt x="50994" y="413476"/>
                </a:lnTo>
                <a:lnTo>
                  <a:pt x="58372" y="387895"/>
                </a:lnTo>
                <a:cubicBezTo>
                  <a:pt x="111660" y="254431"/>
                  <a:pt x="198390" y="154469"/>
                  <a:pt x="306361" y="90092"/>
                </a:cubicBezTo>
                <a:lnTo>
                  <a:pt x="343340" y="71955"/>
                </a:lnTo>
                <a:lnTo>
                  <a:pt x="451947" y="55771"/>
                </a:lnTo>
                <a:lnTo>
                  <a:pt x="480681" y="50638"/>
                </a:lnTo>
                <a:lnTo>
                  <a:pt x="500476" y="51097"/>
                </a:lnTo>
                <a:cubicBezTo>
                  <a:pt x="614729" y="49684"/>
                  <a:pt x="728933" y="43772"/>
                  <a:pt x="843024" y="32056"/>
                </a:cubicBezTo>
                <a:cubicBezTo>
                  <a:pt x="1123212" y="7156"/>
                  <a:pt x="1404499" y="3566"/>
                  <a:pt x="1685086" y="21332"/>
                </a:cubicBezTo>
                <a:cubicBezTo>
                  <a:pt x="1938623" y="33688"/>
                  <a:pt x="2191759" y="64000"/>
                  <a:pt x="2445896" y="38121"/>
                </a:cubicBezTo>
                <a:cubicBezTo>
                  <a:pt x="2489616" y="33690"/>
                  <a:pt x="2532937" y="26111"/>
                  <a:pt x="2576333" y="19030"/>
                </a:cubicBezTo>
                <a:lnTo>
                  <a:pt x="2696353" y="4251"/>
                </a:lnTo>
                <a:lnTo>
                  <a:pt x="2745536" y="5232"/>
                </a:lnTo>
                <a:cubicBezTo>
                  <a:pt x="2818993" y="6452"/>
                  <a:pt x="2887864" y="7004"/>
                  <a:pt x="2947014" y="5793"/>
                </a:cubicBezTo>
                <a:cubicBezTo>
                  <a:pt x="3006163" y="4584"/>
                  <a:pt x="3060036" y="3178"/>
                  <a:pt x="3110399" y="1949"/>
                </a:cubicBezTo>
                <a:lnTo>
                  <a:pt x="3199002" y="221"/>
                </a:lnTo>
                <a:lnTo>
                  <a:pt x="3325015" y="3583"/>
                </a:lnTo>
                <a:cubicBezTo>
                  <a:pt x="3530714" y="12997"/>
                  <a:pt x="3736239" y="28910"/>
                  <a:pt x="3941762" y="43248"/>
                </a:cubicBezTo>
                <a:cubicBezTo>
                  <a:pt x="4091489" y="53739"/>
                  <a:pt x="4241215" y="66563"/>
                  <a:pt x="4390942" y="37886"/>
                </a:cubicBezTo>
                <a:cubicBezTo>
                  <a:pt x="4517292" y="15154"/>
                  <a:pt x="4645537" y="10467"/>
                  <a:pt x="4772844" y="23896"/>
                </a:cubicBezTo>
                <a:cubicBezTo>
                  <a:pt x="4885597" y="37327"/>
                  <a:pt x="4999052" y="40520"/>
                  <a:pt x="5112224" y="33456"/>
                </a:cubicBezTo>
                <a:lnTo>
                  <a:pt x="5477482" y="6922"/>
                </a:lnTo>
                <a:lnTo>
                  <a:pt x="5517883" y="7607"/>
                </a:lnTo>
                <a:lnTo>
                  <a:pt x="5555683" y="6426"/>
                </a:lnTo>
                <a:cubicBezTo>
                  <a:pt x="5626335" y="3737"/>
                  <a:pt x="5704795" y="995"/>
                  <a:pt x="5791061" y="218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97110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16619715" y="7952031"/>
            <a:ext cx="639585" cy="0"/>
          </a:xfrm>
          <a:prstGeom prst="line">
            <a:avLst/>
          </a:prstGeom>
          <a:ln w="114300" cap="flat">
            <a:solidFill>
              <a:srgbClr val="FE82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nl-BE"/>
          </a:p>
        </p:txBody>
      </p:sp>
      <p:sp>
        <p:nvSpPr>
          <p:cNvPr id="4" name="TextBox 4"/>
          <p:cNvSpPr txBox="1"/>
          <p:nvPr/>
        </p:nvSpPr>
        <p:spPr>
          <a:xfrm>
            <a:off x="6651724" y="3252290"/>
            <a:ext cx="10607576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0"/>
              </a:lnSpc>
            </a:pPr>
            <a:r>
              <a:rPr lang="en-US" sz="12000" b="1" spc="-480">
                <a:solidFill>
                  <a:srgbClr val="12100E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THE END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ed9e659-4a5b-42ab-bc5c-ba745c92dcd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9548575991FC44BE593D89E1CECCFB" ma:contentTypeVersion="9" ma:contentTypeDescription="Een nieuw document maken." ma:contentTypeScope="" ma:versionID="e1fdbc5b7b008a25e4ffa84cb9d86f21">
  <xsd:schema xmlns:xsd="http://www.w3.org/2001/XMLSchema" xmlns:xs="http://www.w3.org/2001/XMLSchema" xmlns:p="http://schemas.microsoft.com/office/2006/metadata/properties" xmlns:ns3="bed9e659-4a5b-42ab-bc5c-ba745c92dcdc" xmlns:ns4="c0c22ff6-56d7-4517-bd40-1fc2d86646bb" targetNamespace="http://schemas.microsoft.com/office/2006/metadata/properties" ma:root="true" ma:fieldsID="63ab8d98442c82c1edeb04f33e09df0d" ns3:_="" ns4:_="">
    <xsd:import namespace="bed9e659-4a5b-42ab-bc5c-ba745c92dcdc"/>
    <xsd:import namespace="c0c22ff6-56d7-4517-bd40-1fc2d86646bb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d9e659-4a5b-42ab-bc5c-ba745c92dcdc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c22ff6-56d7-4517-bd40-1fc2d86646bb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Hint-hash delen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91BE054-EF89-42DE-9135-F9D85872F6C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6F0F83C-80B9-4428-944F-E59956946FDF}">
  <ds:schemaRefs>
    <ds:schemaRef ds:uri="http://purl.org/dc/elements/1.1/"/>
    <ds:schemaRef ds:uri="http://schemas.microsoft.com/office/infopath/2007/PartnerControls"/>
    <ds:schemaRef ds:uri="bed9e659-4a5b-42ab-bc5c-ba745c92dcdc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c0c22ff6-56d7-4517-bd40-1fc2d86646bb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31C63D0-4D22-4C67-BDCB-37492032D3C6}">
  <ds:schemaRefs>
    <ds:schemaRef ds:uri="bed9e659-4a5b-42ab-bc5c-ba745c92dcdc"/>
    <ds:schemaRef ds:uri="c0c22ff6-56d7-4517-bd40-1fc2d86646b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411</Words>
  <Application>Microsoft Office PowerPoint</Application>
  <PresentationFormat>Custom</PresentationFormat>
  <Paragraphs>106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</vt:lpstr>
      <vt:lpstr>Open Sauce</vt:lpstr>
      <vt:lpstr>Wingdings</vt:lpstr>
      <vt:lpstr>Tw Cen MT</vt:lpstr>
      <vt:lpstr>Wingdings 3</vt:lpstr>
      <vt:lpstr>Open Sauce Bold</vt:lpstr>
      <vt:lpstr>Open Sauce Heavy</vt:lpstr>
      <vt:lpstr>Tw Cen MT Condensed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daria bianca</dc:creator>
  <cp:lastModifiedBy>Daria Chirila</cp:lastModifiedBy>
  <cp:revision>2</cp:revision>
  <dcterms:created xsi:type="dcterms:W3CDTF">2006-08-16T00:00:00Z</dcterms:created>
  <dcterms:modified xsi:type="dcterms:W3CDTF">2025-12-19T14:44:56Z</dcterms:modified>
  <dc:identifier>DAG7tWrC4Jc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0x010100A99548575991FC44BE593D89E1CECCFB</vt:lpwstr>
  </property>
</Properties>
</file>